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Montserrat"/>
      <p:regular r:id="rId22"/>
      <p:bold r:id="rId23"/>
      <p:italic r:id="rId24"/>
      <p:boldItalic r:id="rId25"/>
    </p:embeddedFont>
    <p:embeddedFont>
      <p:font typeface="Montserrat Black"/>
      <p:bold r:id="rId26"/>
      <p:boldItalic r:id="rId27"/>
    </p:embeddedFont>
    <p:embeddedFont>
      <p:font typeface="Montserrat Medium"/>
      <p:regular r:id="rId28"/>
      <p:bold r:id="rId29"/>
      <p:italic r:id="rId30"/>
      <p:boldItalic r:id="rId31"/>
    </p:embeddedFont>
    <p:embeddedFont>
      <p:font typeface="Montserrat ExtraBold"/>
      <p:bold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Montserrat-regular.fntdata"/><Relationship Id="rId21" Type="http://schemas.openxmlformats.org/officeDocument/2006/relationships/slide" Target="slides/slide16.xml"/><Relationship Id="rId24" Type="http://schemas.openxmlformats.org/officeDocument/2006/relationships/font" Target="fonts/Montserrat-italic.fntdata"/><Relationship Id="rId23" Type="http://schemas.openxmlformats.org/officeDocument/2006/relationships/font" Target="fonts/Montserra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Black-bold.fntdata"/><Relationship Id="rId25" Type="http://schemas.openxmlformats.org/officeDocument/2006/relationships/font" Target="fonts/Montserrat-boldItalic.fntdata"/><Relationship Id="rId28" Type="http://schemas.openxmlformats.org/officeDocument/2006/relationships/font" Target="fonts/MontserratMedium-regular.fntdata"/><Relationship Id="rId27" Type="http://schemas.openxmlformats.org/officeDocument/2006/relationships/font" Target="fonts/MontserratBlack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Medium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Medium-boldItalic.fntdata"/><Relationship Id="rId30" Type="http://schemas.openxmlformats.org/officeDocument/2006/relationships/font" Target="fonts/MontserratMedium-italic.fntdata"/><Relationship Id="rId11" Type="http://schemas.openxmlformats.org/officeDocument/2006/relationships/slide" Target="slides/slide6.xml"/><Relationship Id="rId33" Type="http://schemas.openxmlformats.org/officeDocument/2006/relationships/font" Target="fonts/MontserratExtraBold-boldItalic.fntdata"/><Relationship Id="rId10" Type="http://schemas.openxmlformats.org/officeDocument/2006/relationships/slide" Target="slides/slide5.xml"/><Relationship Id="rId32" Type="http://schemas.openxmlformats.org/officeDocument/2006/relationships/font" Target="fonts/MontserratExtraBold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ca4b07d14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ca4b07d14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06743487f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06743487f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806743487f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806743487f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b0e3e295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b0e3e295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0e3e295b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b0e3e295b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0e3e295bc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0e3e295b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0e3e295bc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b0e3e295bc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806743487f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806743487f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80aeea1a29_1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80aeea1a29_1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80aeea1a29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80aeea1a29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b0e3e295b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b0e3e295b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806743487f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806743487f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806743487f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806743487f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80aeea1a29_1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80aeea1a29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806743487f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806743487f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80aeea1a29_1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80aeea1a29_1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jp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jp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jpg"/><Relationship Id="rId3" Type="http://schemas.openxmlformats.org/officeDocument/2006/relationships/image" Target="../media/image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1" type="title">
  <p:cSld name="TITLE">
    <p:bg>
      <p:bgPr>
        <a:solidFill>
          <a:srgbClr val="57068C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11" name="Google Shape;1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2">
  <p:cSld name="TITLE_1">
    <p:bg>
      <p:bgPr>
        <a:solidFill>
          <a:srgbClr val="57068C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4">
  <p:cSld name="TITLE_1_1_1">
    <p:bg>
      <p:bgPr>
        <a:solidFill>
          <a:srgbClr val="57068C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23" name="Google Shape;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5">
  <p:cSld name="TITLE_1_1_1_1">
    <p:bg>
      <p:bgPr>
        <a:solidFill>
          <a:srgbClr val="57068C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29" name="Google Shape;2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57068C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descr=" " id="34" name="Google Shape;34;p6"/>
          <p:cNvCxnSpPr/>
          <p:nvPr/>
        </p:nvCxnSpPr>
        <p:spPr>
          <a:xfrm>
            <a:off x="407168" y="2618527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 "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/>
          <p:nvPr>
            <p:ph type="title"/>
          </p:nvPr>
        </p:nvSpPr>
        <p:spPr>
          <a:xfrm>
            <a:off x="316950" y="457200"/>
            <a:ext cx="8520600" cy="18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6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7" name="Google Shape;37;p6"/>
          <p:cNvSpPr txBox="1"/>
          <p:nvPr>
            <p:ph idx="1" type="subTitle"/>
          </p:nvPr>
        </p:nvSpPr>
        <p:spPr>
          <a:xfrm>
            <a:off x="316950" y="2938025"/>
            <a:ext cx="4031700" cy="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8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11700" y="1152475"/>
            <a:ext cx="3345900" cy="31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4114800" y="1175683"/>
            <a:ext cx="4192800" cy="31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 " id="42" name="Google Shape;42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2592">
          <p15:clr>
            <a:srgbClr val="FA7B17"/>
          </p15:clr>
        </p15:guide>
        <p15:guide id="2" pos="2304">
          <p15:clr>
            <a:srgbClr val="FA7B17"/>
          </p15:clr>
        </p15:guide>
        <p15:guide id="3" orient="horz" pos="720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/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46" name="Google Shape;46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 txBox="1"/>
          <p:nvPr>
            <p:ph idx="1" type="body"/>
          </p:nvPr>
        </p:nvSpPr>
        <p:spPr>
          <a:xfrm>
            <a:off x="1376250" y="1828800"/>
            <a:ext cx="3330300" cy="24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5051175" y="1828800"/>
            <a:ext cx="3330300" cy="24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152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53" name="Google Shape;53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" name="Google Shape;5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>
            <p:ph type="title"/>
          </p:nvPr>
        </p:nvSpPr>
        <p:spPr>
          <a:xfrm>
            <a:off x="311700" y="426408"/>
            <a:ext cx="4308300" cy="10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311700" y="1646230"/>
            <a:ext cx="3350400" cy="24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descr=" " id="59" name="Google Shape;59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0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1"/>
          <p:cNvSpPr txBox="1"/>
          <p:nvPr>
            <p:ph type="title"/>
          </p:nvPr>
        </p:nvSpPr>
        <p:spPr>
          <a:xfrm>
            <a:off x="407175" y="450150"/>
            <a:ext cx="8329500" cy="38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6000"/>
              <a:buFont typeface="Montserrat Black"/>
              <a:buNone/>
              <a:defRPr sz="6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65" name="Google Shape;6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1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8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 " id="68" name="Google Shape;68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2"/>
          <p:cNvSpPr txBox="1"/>
          <p:nvPr>
            <p:ph type="title"/>
          </p:nvPr>
        </p:nvSpPr>
        <p:spPr>
          <a:xfrm>
            <a:off x="294375" y="1233175"/>
            <a:ext cx="40791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0" name="Google Shape;70;p12"/>
          <p:cNvSpPr txBox="1"/>
          <p:nvPr>
            <p:ph idx="1" type="subTitle"/>
          </p:nvPr>
        </p:nvSpPr>
        <p:spPr>
          <a:xfrm>
            <a:off x="294375" y="2803075"/>
            <a:ext cx="39558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6ABA"/>
              </a:buClr>
              <a:buSzPts val="1800"/>
              <a:buNone/>
              <a:defRPr>
                <a:solidFill>
                  <a:srgbClr val="9A6ABA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1" name="Google Shape;71;p12"/>
          <p:cNvSpPr txBox="1"/>
          <p:nvPr>
            <p:ph idx="2" type="body"/>
          </p:nvPr>
        </p:nvSpPr>
        <p:spPr>
          <a:xfrm>
            <a:off x="4939500" y="724075"/>
            <a:ext cx="3837000" cy="3551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descr=" " id="72" name="Google Shape;72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2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alf-page image">
  <p:cSld name="CUSTOM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75" name="Google Shape;75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3"/>
          <p:cNvSpPr txBox="1"/>
          <p:nvPr>
            <p:ph type="title"/>
          </p:nvPr>
        </p:nvSpPr>
        <p:spPr>
          <a:xfrm>
            <a:off x="311700" y="445025"/>
            <a:ext cx="3803100" cy="11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77" name="Google Shape;77;p13"/>
          <p:cNvSpPr txBox="1"/>
          <p:nvPr>
            <p:ph idx="1" type="body"/>
          </p:nvPr>
        </p:nvSpPr>
        <p:spPr>
          <a:xfrm>
            <a:off x="311700" y="2750150"/>
            <a:ext cx="3466500" cy="152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78" name="Google Shape;78;p13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81" name="Google Shape;8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4"/>
          <p:cNvSpPr txBox="1"/>
          <p:nvPr>
            <p:ph type="title"/>
          </p:nvPr>
        </p:nvSpPr>
        <p:spPr>
          <a:xfrm>
            <a:off x="311700" y="3564945"/>
            <a:ext cx="44913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None/>
              <a:defRPr sz="14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88" name="Google Shape;88;p15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0" name="Google Shape;90;p15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CUSTOM_1_1">
    <p:bg>
      <p:bgPr>
        <a:solidFill>
          <a:schemeClr val="dk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95" name="Google Shape;95;p16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96" name="Google Shape;96;p16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" name="Google Shape;97;p16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 1">
  <p:cSld name="CUSTOM_1_1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02" name="Google Shape;102;p17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" name="Google Shape;104;p1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>
            <p:ph hasCustomPrompt="1" type="title"/>
          </p:nvPr>
        </p:nvSpPr>
        <p:spPr>
          <a:xfrm>
            <a:off x="311700" y="407700"/>
            <a:ext cx="8520600" cy="19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5000"/>
              <a:buFont typeface="Montserrat Black"/>
              <a:buNone/>
              <a:defRPr sz="15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7" name="Google Shape;107;p18"/>
          <p:cNvSpPr txBox="1"/>
          <p:nvPr>
            <p:ph idx="1" type="body"/>
          </p:nvPr>
        </p:nvSpPr>
        <p:spPr>
          <a:xfrm>
            <a:off x="2475675" y="3360362"/>
            <a:ext cx="4192800" cy="71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descr=" " id="108" name="Google Shape;10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" name="Google Shape;110;p18"/>
          <p:cNvSpPr txBox="1"/>
          <p:nvPr>
            <p:ph idx="2" type="subTitle"/>
          </p:nvPr>
        </p:nvSpPr>
        <p:spPr>
          <a:xfrm>
            <a:off x="407175" y="2537800"/>
            <a:ext cx="8329200" cy="71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pic>
        <p:nvPicPr>
          <p:cNvPr id="111" name="Google Shape;1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folio" typ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3" name="Google Shape;113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ExtraBold"/>
              <a:buNone/>
              <a:defRPr sz="4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2.png"/><Relationship Id="rId5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8.png"/><Relationship Id="rId4" Type="http://schemas.openxmlformats.org/officeDocument/2006/relationships/image" Target="../media/image23.png"/><Relationship Id="rId5" Type="http://schemas.openxmlformats.org/officeDocument/2006/relationships/hyperlink" Target="http://drive.google.com/file/d/1JExX5viY4A4auXHhiU32axhktZ1bAEGt/view" TargetMode="External"/><Relationship Id="rId6" Type="http://schemas.openxmlformats.org/officeDocument/2006/relationships/image" Target="../media/image3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9.png"/><Relationship Id="rId4" Type="http://schemas.openxmlformats.org/officeDocument/2006/relationships/image" Target="../media/image3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bpo7912/AMR-Homework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/>
          <p:nvPr>
            <p:ph type="title"/>
          </p:nvPr>
        </p:nvSpPr>
        <p:spPr>
          <a:xfrm>
            <a:off x="307599" y="9640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Modeling, Control, and Planning of a 3-Wheel Omni Robot</a:t>
            </a:r>
            <a:endParaRPr sz="4000"/>
          </a:p>
        </p:txBody>
      </p:sp>
      <p:sp>
        <p:nvSpPr>
          <p:cNvPr id="121" name="Google Shape;121;p21"/>
          <p:cNvSpPr txBox="1"/>
          <p:nvPr>
            <p:ph idx="2" type="body"/>
          </p:nvPr>
        </p:nvSpPr>
        <p:spPr>
          <a:xfrm>
            <a:off x="0" y="3839225"/>
            <a:ext cx="3711300" cy="96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Bhavya Oza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N19241430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Autonomous Mobile Robots</a:t>
            </a:r>
            <a:endParaRPr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6950" y="166350"/>
            <a:ext cx="2876700" cy="5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 Project Overview</a:t>
            </a:r>
            <a:endParaRPr sz="1800"/>
          </a:p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230675" y="748050"/>
            <a:ext cx="5909400" cy="368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This project explores the complete AMR pipeline using a 3-wheel omni-directional robot, covering: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System modeling (kinematics &amp; dynamics)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Advanced control (PI, Sliding Mode Control)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Safe navigation using Control Barrier Functions (CBF)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Motion planning using Potential Fields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Simulation in MATLAB / Simulink and Python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All work version-controlled using Git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40075" y="1435663"/>
            <a:ext cx="2505075" cy="181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0"/>
            <a:ext cx="3917100" cy="6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System Modelling </a:t>
            </a:r>
            <a:endParaRPr sz="1800"/>
          </a:p>
        </p:txBody>
      </p:sp>
      <p:sp>
        <p:nvSpPr>
          <p:cNvPr id="134" name="Google Shape;134;p23"/>
          <p:cNvSpPr txBox="1"/>
          <p:nvPr>
            <p:ph idx="1" type="body"/>
          </p:nvPr>
        </p:nvSpPr>
        <p:spPr>
          <a:xfrm>
            <a:off x="0" y="630600"/>
            <a:ext cx="8832300" cy="139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3-Wheel Omni Robot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Holonomic, fully actuated platform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Wheel speed → Body velocity  </a:t>
            </a: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; </a:t>
            </a: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Body Frame → World transformations: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t/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35" name="Google Shape;13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3250" y="1909150"/>
            <a:ext cx="1743025" cy="113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99450" y="1909150"/>
            <a:ext cx="1896125" cy="1137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3"/>
          <p:cNvSpPr txBox="1"/>
          <p:nvPr/>
        </p:nvSpPr>
        <p:spPr>
          <a:xfrm>
            <a:off x="0" y="3046816"/>
            <a:ext cx="8832300" cy="20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Parameters: wheel radius, robot geometry, sampling time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💡</a:t>
            </a: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Why dynamics? Enables realistic control and robustness testing.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First-order motor dynamics per wheel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Discrete transfer function model in Simulink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title"/>
          </p:nvPr>
        </p:nvSpPr>
        <p:spPr>
          <a:xfrm>
            <a:off x="407175" y="214350"/>
            <a:ext cx="2571000" cy="46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Kinematic model</a:t>
            </a:r>
            <a:endParaRPr sz="1800"/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907950"/>
            <a:ext cx="4598801" cy="252965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4"/>
          <p:cNvSpPr txBox="1"/>
          <p:nvPr/>
        </p:nvSpPr>
        <p:spPr>
          <a:xfrm>
            <a:off x="5005975" y="907950"/>
            <a:ext cx="30000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Robot Parameters: 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r→ wheel radius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R→ dist from robot center to each wheel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Vx → body-frame velocity in x (forward)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Vy → body-frame velocity in y (sideways)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w → body angular velocity 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x_d → world-frame velocity in x 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y_d → world-frame velocity in y 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th_d → world angular velocity = θ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Om1, om2, om3 → wheel speeds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476425" y="3831775"/>
            <a:ext cx="7483500" cy="4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Wheel speeds om1, om2, om3 in rad/s determine </a:t>
            </a:r>
            <a:r>
              <a:rPr lang="en" sz="15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the</a:t>
            </a:r>
            <a:r>
              <a:rPr lang="en" sz="15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direction of robot</a:t>
            </a:r>
            <a:endParaRPr sz="15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/>
          <p:nvPr>
            <p:ph idx="1" type="body"/>
          </p:nvPr>
        </p:nvSpPr>
        <p:spPr>
          <a:xfrm>
            <a:off x="284225" y="0"/>
            <a:ext cx="4192800" cy="51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Outputs</a:t>
            </a:r>
            <a:endParaRPr sz="180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pic>
        <p:nvPicPr>
          <p:cNvPr id="151" name="Google Shape;15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709900"/>
            <a:ext cx="3619052" cy="195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4675" y="709900"/>
            <a:ext cx="3495277" cy="227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4225" y="3227925"/>
            <a:ext cx="3619050" cy="1829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5"/>
          <p:cNvSpPr txBox="1"/>
          <p:nvPr/>
        </p:nvSpPr>
        <p:spPr>
          <a:xfrm>
            <a:off x="390150" y="424325"/>
            <a:ext cx="3619200" cy="2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Test case 1: om1=2, om2=-1, om3=-1</a:t>
            </a:r>
            <a:endParaRPr sz="12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55" name="Google Shape;155;p25"/>
          <p:cNvSpPr txBox="1"/>
          <p:nvPr/>
        </p:nvSpPr>
        <p:spPr>
          <a:xfrm>
            <a:off x="5154675" y="424325"/>
            <a:ext cx="3619200" cy="2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Test case 2: om1=0, om2=-2, om3=2 </a:t>
            </a:r>
            <a:endParaRPr sz="1200">
              <a:solidFill>
                <a:srgbClr val="595959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56" name="Google Shape;156;p25"/>
          <p:cNvSpPr txBox="1"/>
          <p:nvPr/>
        </p:nvSpPr>
        <p:spPr>
          <a:xfrm>
            <a:off x="284225" y="2860200"/>
            <a:ext cx="419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Montserrat Medium"/>
                <a:ea typeface="Montserrat Medium"/>
                <a:cs typeface="Montserrat Medium"/>
                <a:sym typeface="Montserrat Medium"/>
              </a:rPr>
              <a:t>Test case 3:om1=2, om2=2, om3=2 (Spin in place)</a:t>
            </a:r>
            <a:endParaRPr sz="12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6"/>
          <p:cNvSpPr txBox="1"/>
          <p:nvPr>
            <p:ph type="title"/>
          </p:nvPr>
        </p:nvSpPr>
        <p:spPr>
          <a:xfrm>
            <a:off x="311700" y="160425"/>
            <a:ext cx="5371500" cy="43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Simulink model with dynamic controller</a:t>
            </a:r>
            <a:endParaRPr sz="1800"/>
          </a:p>
        </p:txBody>
      </p:sp>
      <p:pic>
        <p:nvPicPr>
          <p:cNvPr id="162" name="Google Shape;16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596913"/>
            <a:ext cx="5371456" cy="34153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6"/>
          <p:cNvSpPr txBox="1"/>
          <p:nvPr/>
        </p:nvSpPr>
        <p:spPr>
          <a:xfrm>
            <a:off x="799900" y="3993525"/>
            <a:ext cx="8205900" cy="3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Body velocities Vx, Vy, ⍵d determine motion in given command- straight line, spin or circular motion</a:t>
            </a:r>
            <a:endParaRPr sz="12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0"/>
            <a:ext cx="1232400" cy="48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Outputs</a:t>
            </a:r>
            <a:endParaRPr sz="1800"/>
          </a:p>
        </p:txBody>
      </p:sp>
      <p:sp>
        <p:nvSpPr>
          <p:cNvPr id="169" name="Google Shape;169;p27"/>
          <p:cNvSpPr txBox="1"/>
          <p:nvPr/>
        </p:nvSpPr>
        <p:spPr>
          <a:xfrm>
            <a:off x="0" y="532175"/>
            <a:ext cx="32133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Test case 1: Pure spin at same position</a:t>
            </a:r>
            <a:endParaRPr sz="12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70" name="Google Shape;17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550" y="931174"/>
            <a:ext cx="3036200" cy="2014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550" y="2945275"/>
            <a:ext cx="3036200" cy="21478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7"/>
          <p:cNvSpPr txBox="1"/>
          <p:nvPr/>
        </p:nvSpPr>
        <p:spPr>
          <a:xfrm>
            <a:off x="3213300" y="489000"/>
            <a:ext cx="3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Test case 2: Circular Motion</a:t>
            </a:r>
            <a:endParaRPr sz="12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73" name="Google Shape;173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08125" y="931175"/>
            <a:ext cx="2668825" cy="2264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19600" y="3195175"/>
            <a:ext cx="2645875" cy="189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7"/>
          <p:cNvSpPr txBox="1"/>
          <p:nvPr/>
        </p:nvSpPr>
        <p:spPr>
          <a:xfrm>
            <a:off x="6107700" y="489000"/>
            <a:ext cx="303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Test case 3: Straight line motion</a:t>
            </a:r>
            <a:endParaRPr sz="12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76" name="Google Shape;176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59822" y="1000050"/>
            <a:ext cx="2884178" cy="219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224150" y="3195175"/>
            <a:ext cx="2919850" cy="189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8"/>
          <p:cNvSpPr txBox="1"/>
          <p:nvPr>
            <p:ph type="title"/>
          </p:nvPr>
        </p:nvSpPr>
        <p:spPr>
          <a:xfrm>
            <a:off x="311700" y="175450"/>
            <a:ext cx="2936100" cy="47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Control Methodology</a:t>
            </a:r>
            <a:endParaRPr sz="1800"/>
          </a:p>
        </p:txBody>
      </p:sp>
      <p:sp>
        <p:nvSpPr>
          <p:cNvPr id="183" name="Google Shape;183;p28"/>
          <p:cNvSpPr txBox="1"/>
          <p:nvPr>
            <p:ph idx="2" type="body"/>
          </p:nvPr>
        </p:nvSpPr>
        <p:spPr>
          <a:xfrm>
            <a:off x="407175" y="696575"/>
            <a:ext cx="5029500" cy="378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Baseline: PI Control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Removes steady-state error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Simple but disturbance-sensitive</a:t>
            </a:r>
            <a:b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</a:b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Advanced: Sliding Mode Control (SMC)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Robust to uncertainties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Enforces convergence using sliding surface: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84" name="Google Shape;18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3250" y="2934425"/>
            <a:ext cx="1685925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9"/>
          <p:cNvSpPr txBox="1"/>
          <p:nvPr>
            <p:ph type="title"/>
          </p:nvPr>
        </p:nvSpPr>
        <p:spPr>
          <a:xfrm>
            <a:off x="311700" y="263150"/>
            <a:ext cx="3927900" cy="42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Sliding Mode Control Details</a:t>
            </a:r>
            <a:endParaRPr sz="1800"/>
          </a:p>
        </p:txBody>
      </p:sp>
      <p:sp>
        <p:nvSpPr>
          <p:cNvPr id="190" name="Google Shape;190;p29"/>
          <p:cNvSpPr txBox="1"/>
          <p:nvPr/>
        </p:nvSpPr>
        <p:spPr>
          <a:xfrm>
            <a:off x="407175" y="737125"/>
            <a:ext cx="5298900" cy="32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3333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SMC Control law:</a:t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 →Sliding surface gain</a:t>
            </a:r>
            <a:endParaRPr sz="15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 →Control input to wheel motor</a:t>
            </a:r>
            <a:endParaRPr sz="150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3333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This guarantees:</a:t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Reachability condition: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Fast error convergence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Stable wheel tracking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91" name="Google Shape;191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8950" y="684650"/>
            <a:ext cx="2466975" cy="69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0375" y="2723425"/>
            <a:ext cx="2358779" cy="42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0"/>
          <p:cNvSpPr txBox="1"/>
          <p:nvPr>
            <p:ph type="title"/>
          </p:nvPr>
        </p:nvSpPr>
        <p:spPr>
          <a:xfrm>
            <a:off x="407175" y="137425"/>
            <a:ext cx="2193600" cy="49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Control Results</a:t>
            </a:r>
            <a:endParaRPr sz="1800">
              <a:solidFill>
                <a:schemeClr val="dk1"/>
              </a:solidFill>
              <a:highlight>
                <a:srgbClr val="9A6ABA"/>
              </a:highlight>
            </a:endParaRPr>
          </a:p>
        </p:txBody>
      </p:sp>
      <p:sp>
        <p:nvSpPr>
          <p:cNvPr id="198" name="Google Shape;198;p30"/>
          <p:cNvSpPr txBox="1"/>
          <p:nvPr/>
        </p:nvSpPr>
        <p:spPr>
          <a:xfrm>
            <a:off x="476425" y="650775"/>
            <a:ext cx="4464300" cy="29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Observed Results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Phase portraits:  e vs ė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Sliding surfaces bounded and stable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Accurate tracking for: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Char char="○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Straight line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Char char="○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Spin in place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Char char="○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Circular motion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📊 </a:t>
            </a:r>
            <a:r>
              <a:rPr i="1"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Demonstrates closed-loop stability</a:t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199" name="Google Shape;199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6964" y="492563"/>
            <a:ext cx="3492237" cy="322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1"/>
          <p:cNvSpPr txBox="1"/>
          <p:nvPr>
            <p:ph type="title"/>
          </p:nvPr>
        </p:nvSpPr>
        <p:spPr>
          <a:xfrm>
            <a:off x="311700" y="0"/>
            <a:ext cx="8424900" cy="12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523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Updated simulink model with  Sliding Mode Controller (SMC), wheel-level error feedback, discrete wheel dynamics, kinematic transformations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205" name="Google Shape;20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1338" y="1448675"/>
            <a:ext cx="6365625" cy="307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 txBox="1"/>
          <p:nvPr>
            <p:ph type="title"/>
          </p:nvPr>
        </p:nvSpPr>
        <p:spPr>
          <a:xfrm>
            <a:off x="279350" y="132325"/>
            <a:ext cx="3809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Safe navigation with CBF</a:t>
            </a:r>
            <a:endParaRPr sz="1800"/>
          </a:p>
        </p:txBody>
      </p:sp>
      <p:sp>
        <p:nvSpPr>
          <p:cNvPr id="211" name="Google Shape;211;p32"/>
          <p:cNvSpPr txBox="1"/>
          <p:nvPr/>
        </p:nvSpPr>
        <p:spPr>
          <a:xfrm>
            <a:off x="279350" y="713850"/>
            <a:ext cx="8457300" cy="37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Goal: Reach target while avoiding a pedestrian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Barrier function: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CBF condition: 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Guarantees safety at all times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212" name="Google Shape;212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7075" y="1176575"/>
            <a:ext cx="3343275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34550" y="1586325"/>
            <a:ext cx="20955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32" title="CBF_animation.mp4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088750" y="1969841"/>
            <a:ext cx="5055249" cy="316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3"/>
          <p:cNvSpPr txBox="1"/>
          <p:nvPr>
            <p:ph type="title"/>
          </p:nvPr>
        </p:nvSpPr>
        <p:spPr>
          <a:xfrm>
            <a:off x="311700" y="275450"/>
            <a:ext cx="4963200" cy="54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Motion Planning (Potential Fields)</a:t>
            </a:r>
            <a:endParaRPr sz="1800"/>
          </a:p>
        </p:txBody>
      </p:sp>
      <p:sp>
        <p:nvSpPr>
          <p:cNvPr id="220" name="Google Shape;220;p33"/>
          <p:cNvSpPr txBox="1"/>
          <p:nvPr>
            <p:ph idx="1" type="body"/>
          </p:nvPr>
        </p:nvSpPr>
        <p:spPr>
          <a:xfrm>
            <a:off x="311700" y="1020800"/>
            <a:ext cx="7906800" cy="325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Total potential: 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Attractive force → goal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latin typeface="Montserrat Medium"/>
                <a:ea typeface="Montserrat Medium"/>
                <a:cs typeface="Montserrat Medium"/>
                <a:sym typeface="Montserrat Medium"/>
              </a:rPr>
              <a:t>Repulsive force → obstacles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Two scenarios: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AutoNum type="arabicPeriod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Success: robot reaches goal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AutoNum type="arabicPeriod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Failure: robot stuck in local minimum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📌 Shows strengths and limitations of potential fields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221" name="Google Shape;221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1763" y="1198275"/>
            <a:ext cx="174307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823250"/>
            <a:ext cx="4656298" cy="261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4"/>
          <p:cNvSpPr txBox="1"/>
          <p:nvPr>
            <p:ph type="title"/>
          </p:nvPr>
        </p:nvSpPr>
        <p:spPr>
          <a:xfrm>
            <a:off x="407175" y="154200"/>
            <a:ext cx="3012900" cy="35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 Results &amp; Challenges</a:t>
            </a:r>
            <a:endParaRPr sz="1800"/>
          </a:p>
        </p:txBody>
      </p:sp>
      <p:sp>
        <p:nvSpPr>
          <p:cNvPr id="228" name="Google Shape;228;p34"/>
          <p:cNvSpPr txBox="1"/>
          <p:nvPr>
            <p:ph idx="1" type="body"/>
          </p:nvPr>
        </p:nvSpPr>
        <p:spPr>
          <a:xfrm>
            <a:off x="407175" y="510600"/>
            <a:ext cx="4544400" cy="400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Results: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Robust tracking via SMC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Safe navigation via CBF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Clear planning success &amp; failure cases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Full animations generated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Challenges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Simulink signal dimensions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Workspace logging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Local minima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Git cache management</a:t>
            </a:r>
            <a:endParaRPr sz="15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5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✔ Resolved through tuning &amp; structure</a:t>
            </a:r>
            <a:endParaRPr sz="15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cxnSp>
        <p:nvCxnSpPr>
          <p:cNvPr id="229" name="Google Shape;229;p34"/>
          <p:cNvCxnSpPr/>
          <p:nvPr/>
        </p:nvCxnSpPr>
        <p:spPr>
          <a:xfrm>
            <a:off x="5186629" y="34625"/>
            <a:ext cx="0" cy="518820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5"/>
          <p:cNvSpPr txBox="1"/>
          <p:nvPr/>
        </p:nvSpPr>
        <p:spPr>
          <a:xfrm>
            <a:off x="498000" y="154750"/>
            <a:ext cx="18978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Conclusion</a:t>
            </a:r>
            <a:endParaRPr sz="180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498000" y="575350"/>
            <a:ext cx="6383400" cy="20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3333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Complete AMR workflow implemented</a:t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3333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Strong link between theory and simulation</a:t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Montserrat Medium"/>
              <a:buChar char="●"/>
            </a:pPr>
            <a:r>
              <a:rPr lang="en" sz="1500">
                <a:solidFill>
                  <a:srgbClr val="3333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Clear understanding of control, safety, and planning</a:t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🔗</a:t>
            </a:r>
            <a:r>
              <a:rPr b="1" lang="en" sz="1500" u="sng">
                <a:solidFill>
                  <a:srgbClr val="0000FF"/>
                </a:solid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GitHub Repository</a:t>
            </a:r>
            <a:endParaRPr b="1" sz="1500">
              <a:solidFill>
                <a:srgbClr val="0000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6"/>
          <p:cNvSpPr txBox="1"/>
          <p:nvPr>
            <p:ph type="title"/>
          </p:nvPr>
        </p:nvSpPr>
        <p:spPr>
          <a:xfrm>
            <a:off x="1098300" y="1409850"/>
            <a:ext cx="6947400" cy="232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900"/>
              <a:t>THANK</a:t>
            </a:r>
            <a:endParaRPr sz="69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900"/>
              <a:t>YOU</a:t>
            </a:r>
            <a:endParaRPr sz="6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YU Bold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2E1DD"/>
      </a:lt2>
      <a:accent1>
        <a:srgbClr val="9A6ABA"/>
      </a:accent1>
      <a:accent2>
        <a:srgbClr val="6D6D6D"/>
      </a:accent2>
      <a:accent3>
        <a:srgbClr val="8900E1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