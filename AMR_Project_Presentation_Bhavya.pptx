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Montserrat Black"/>
      <p:bold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  <p:embeddedFont>
      <p:font typeface="Montserrat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Black-bold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806743487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806743487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0674348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0674348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0e3e295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0e3e295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0e3e295b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0e3e295b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0e3e295b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0e3e295b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0e3e295b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0e3e295b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06743487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06743487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80aeea1a29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80aeea1a29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80aeea1a2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80aeea1a2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0e3e295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0e3e295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06743487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06743487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806743487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806743487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0aeea1a29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0aeea1a29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06743487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06743487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80aeea1a29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80aeea1a29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jp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jp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jpg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jpg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1" type="title">
  <p:cSld name="TITLE">
    <p:bg>
      <p:bgPr>
        <a:solidFill>
          <a:srgbClr val="57068C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2">
  <p:cSld name="TITLE_1">
    <p:bg>
      <p:bgPr>
        <a:solidFill>
          <a:srgbClr val="57068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4">
  <p:cSld name="TITLE_1_1_1">
    <p:bg>
      <p:bgPr>
        <a:solidFill>
          <a:srgbClr val="57068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05">
  <p:cSld name="TITLE_1_1_1_1">
    <p:bg>
      <p:bgPr>
        <a:solidFill>
          <a:srgbClr val="57068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descr="New York University logo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31750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57068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descr=" " id="34" name="Google Shape;34;p6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 " id="35" name="Google Shape;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42" name="Google Shape;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>
            <p:ph idx="1" type="body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53" name="Google Shape;5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pic>
        <p:nvPicPr>
          <p:cNvPr descr=" " id="65" name="Google Shape;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68" name="Google Shape;68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2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2"/>
          <p:cNvSpPr txBox="1"/>
          <p:nvPr>
            <p:ph idx="1" type="subTitle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2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72" name="Google Shape;7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-page imag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 1">
  <p:cSld name="CUSTOM_1_1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hasCustomPrompt="1" type="title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108" name="Google Shape;10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8"/>
          <p:cNvSpPr txBox="1"/>
          <p:nvPr>
            <p:ph idx="2" type="subTitle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3" name="Google Shape;11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hyperlink" Target="http://drive.google.com/file/d/1mmqPyFDXHeh1CyWOCjhtF6amFVdBksoA/view" TargetMode="External"/><Relationship Id="rId6" Type="http://schemas.openxmlformats.org/officeDocument/2006/relationships/image" Target="../media/image29.jpg"/><Relationship Id="rId7" Type="http://schemas.openxmlformats.org/officeDocument/2006/relationships/image" Target="../media/image24.png"/><Relationship Id="rId8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bpo7912/AMR-Homework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07599" y="964043"/>
            <a:ext cx="8265600" cy="190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Modeling, Control, and Planning of a 3-Wheel Omni Robot</a:t>
            </a:r>
            <a:endParaRPr sz="4000"/>
          </a:p>
        </p:txBody>
      </p:sp>
      <p:sp>
        <p:nvSpPr>
          <p:cNvPr id="121" name="Google Shape;121;p21"/>
          <p:cNvSpPr txBox="1"/>
          <p:nvPr>
            <p:ph idx="2" type="body"/>
          </p:nvPr>
        </p:nvSpPr>
        <p:spPr>
          <a:xfrm>
            <a:off x="0" y="3839225"/>
            <a:ext cx="37113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Bhavya Oza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N19241430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Autonomous Mobile Robots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6950" y="166350"/>
            <a:ext cx="28767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Project Overview</a:t>
            </a:r>
            <a:endParaRPr sz="1800"/>
          </a:p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230675" y="748050"/>
            <a:ext cx="5909400" cy="36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This project explores the complete AMR pipeline using a 3-wheel omni-directional robot, covering: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System modeling (kinematics &amp; dynamics)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Advanced control (PI, Sliding Mode Control)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Safe navigation using Control Barrier Functions (CBF)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Motion planning using Potential Fields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Simulation in MATLAB / Simulink and Python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All work version-controlled using Git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0075" y="1435663"/>
            <a:ext cx="250507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311700" y="0"/>
            <a:ext cx="3917100" cy="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System Modelling </a:t>
            </a:r>
            <a:endParaRPr sz="1800"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0" y="630600"/>
            <a:ext cx="88323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3-Wheel Omni Robot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Holonomic, fully actuated platform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Wheel speed → Body velocity  </a:t>
            </a: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; </a:t>
            </a: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Body Frame → World transformations: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t/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250" y="1909150"/>
            <a:ext cx="1743025" cy="113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9450" y="1909150"/>
            <a:ext cx="1896125" cy="113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0" y="3046816"/>
            <a:ext cx="8832300" cy="20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Parameters: wheel radius, robot geometry, sampling time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💡</a:t>
            </a: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Why dynamics? Enables realistic control and robustness testing.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First-order motor dynamics per wheel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Discrete transfer function model in Simulink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407175" y="214350"/>
            <a:ext cx="2571000" cy="4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Kinematic model</a:t>
            </a:r>
            <a:endParaRPr sz="180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907950"/>
            <a:ext cx="4598801" cy="25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/>
        </p:nvSpPr>
        <p:spPr>
          <a:xfrm>
            <a:off x="5005975" y="907950"/>
            <a:ext cx="3000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Robot Parameters: 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r→ wheel radius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R→ dist from robot center to each wheel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Vx → body-frame velocity in x (forward)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Vy → body-frame velocity in y (sideways)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w → body angular velocity 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x_d → world-frame velocity in x 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y_d → world-frame velocity in y 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th_d → world angular velocity = θ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Om1, om2, om3 → wheel speeds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476425" y="3831775"/>
            <a:ext cx="74835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Wheel speeds om1, om2, om3 in rad/s determine </a:t>
            </a: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</a:t>
            </a: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direction of robot</a:t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284225" y="0"/>
            <a:ext cx="41928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Outputs</a:t>
            </a:r>
            <a:endParaRPr sz="1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709900"/>
            <a:ext cx="3619052" cy="195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4675" y="709900"/>
            <a:ext cx="3495277" cy="227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225" y="3227925"/>
            <a:ext cx="3619050" cy="18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/>
        </p:nvSpPr>
        <p:spPr>
          <a:xfrm>
            <a:off x="390150" y="424325"/>
            <a:ext cx="36192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case 1: om1=2, om2=-1, om3=-1</a:t>
            </a:r>
            <a:endParaRPr sz="12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5154675" y="424325"/>
            <a:ext cx="36192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case 2: om1=0, om2=-2, om3=2 </a:t>
            </a:r>
            <a:endParaRPr sz="1200">
              <a:solidFill>
                <a:srgbClr val="595959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284225" y="2860200"/>
            <a:ext cx="419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292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Medium"/>
                <a:ea typeface="Montserrat Medium"/>
                <a:cs typeface="Montserrat Medium"/>
                <a:sym typeface="Montserrat Medium"/>
              </a:rPr>
              <a:t>Test case 3:om1=2, om2=2, om3=2 (Spin in place)</a:t>
            </a:r>
            <a:endParaRPr sz="12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160425"/>
            <a:ext cx="5371500" cy="4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Simulink model with dynamic controller</a:t>
            </a:r>
            <a:endParaRPr sz="1800"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96913"/>
            <a:ext cx="5371456" cy="34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 txBox="1"/>
          <p:nvPr/>
        </p:nvSpPr>
        <p:spPr>
          <a:xfrm>
            <a:off x="799900" y="3993525"/>
            <a:ext cx="82059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Body velocities Vx, Vy, ⍵d determine motion in given command- straight line, spin or circular motion</a:t>
            </a:r>
            <a:endParaRPr sz="12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0"/>
            <a:ext cx="1232400" cy="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Outputs</a:t>
            </a:r>
            <a:endParaRPr sz="1800"/>
          </a:p>
        </p:txBody>
      </p:sp>
      <p:sp>
        <p:nvSpPr>
          <p:cNvPr id="169" name="Google Shape;169;p27"/>
          <p:cNvSpPr txBox="1"/>
          <p:nvPr/>
        </p:nvSpPr>
        <p:spPr>
          <a:xfrm>
            <a:off x="0" y="532175"/>
            <a:ext cx="32133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case 1: Pure spin at same position</a:t>
            </a:r>
            <a:endParaRPr sz="12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50" y="931174"/>
            <a:ext cx="3036200" cy="201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50" y="2945275"/>
            <a:ext cx="3036200" cy="21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3213300" y="489000"/>
            <a:ext cx="3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case 2: Circular Motion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08125" y="931175"/>
            <a:ext cx="2668825" cy="2264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9600" y="3195175"/>
            <a:ext cx="2645875" cy="189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/>
          <p:nvPr/>
        </p:nvSpPr>
        <p:spPr>
          <a:xfrm>
            <a:off x="6107700" y="489000"/>
            <a:ext cx="303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case 3: Straight line motion</a:t>
            </a:r>
            <a:endParaRPr sz="12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9822" y="1000050"/>
            <a:ext cx="2884178" cy="219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24150" y="3195175"/>
            <a:ext cx="2919850" cy="189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175450"/>
            <a:ext cx="29361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Control Methodology</a:t>
            </a:r>
            <a:endParaRPr sz="1800"/>
          </a:p>
        </p:txBody>
      </p:sp>
      <p:sp>
        <p:nvSpPr>
          <p:cNvPr id="183" name="Google Shape;183;p28"/>
          <p:cNvSpPr txBox="1"/>
          <p:nvPr>
            <p:ph idx="2" type="body"/>
          </p:nvPr>
        </p:nvSpPr>
        <p:spPr>
          <a:xfrm>
            <a:off x="407175" y="696575"/>
            <a:ext cx="5029500" cy="37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Baseline: PI Control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Removes steady-state error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Simple but disturbance-sensitive</a:t>
            </a:r>
            <a:b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Advanced: Sliding Mode Control (SMC)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Robust to uncertainties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Enforces convergence using sliding surface: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250" y="2934425"/>
            <a:ext cx="168592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263150"/>
            <a:ext cx="3927900" cy="4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Sliding Mode Control Details</a:t>
            </a:r>
            <a:endParaRPr sz="1800"/>
          </a:p>
        </p:txBody>
      </p:sp>
      <p:sp>
        <p:nvSpPr>
          <p:cNvPr id="190" name="Google Shape;190;p29"/>
          <p:cNvSpPr txBox="1"/>
          <p:nvPr/>
        </p:nvSpPr>
        <p:spPr>
          <a:xfrm>
            <a:off x="407175" y="737125"/>
            <a:ext cx="5298900" cy="3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SMC Control law:</a:t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 →Sliding surface gain</a:t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 →Control input to wheel motor</a:t>
            </a:r>
            <a:endParaRPr sz="15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This guarantees:</a:t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Reachability condition: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Fast error convergence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Stable wheel tracking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8950" y="684650"/>
            <a:ext cx="246697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0375" y="2723425"/>
            <a:ext cx="2358779" cy="4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407175" y="137425"/>
            <a:ext cx="2193600" cy="4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Control Results</a:t>
            </a:r>
            <a:endParaRPr sz="1800">
              <a:solidFill>
                <a:schemeClr val="dk1"/>
              </a:solidFill>
              <a:highlight>
                <a:srgbClr val="9A6ABA"/>
              </a:highlight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476425" y="650775"/>
            <a:ext cx="4464300" cy="29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Observed Results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Phase portraits:  e vs ė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Sliding surfaces bounded and stable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Accurate tracking for: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Char char="○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Straight line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Char char="○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Spin in place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Char char="○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Circular motion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📊 </a:t>
            </a:r>
            <a:r>
              <a:rPr i="1"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Demonstrates closed-loop stability</a:t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964" y="492563"/>
            <a:ext cx="3492237" cy="322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11700" y="0"/>
            <a:ext cx="84249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Updated simulink model with  Sliding Mode Controller (SMC), wheel-level error feedback, discrete wheel dynamics, kinematic transformations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1338" y="1448675"/>
            <a:ext cx="6365625" cy="30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279350" y="132325"/>
            <a:ext cx="3809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Safe navigation with CBF</a:t>
            </a:r>
            <a:endParaRPr sz="1800"/>
          </a:p>
        </p:txBody>
      </p:sp>
      <p:sp>
        <p:nvSpPr>
          <p:cNvPr id="211" name="Google Shape;211;p32"/>
          <p:cNvSpPr txBox="1"/>
          <p:nvPr/>
        </p:nvSpPr>
        <p:spPr>
          <a:xfrm>
            <a:off x="279350" y="713850"/>
            <a:ext cx="8457300" cy="3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Goal: Reach target while avoiding  pedestrians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Barrier function: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CBF condition: 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Guarantees safety at all times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12" name="Google Shape;21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7075" y="1176575"/>
            <a:ext cx="33432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4550" y="1586325"/>
            <a:ext cx="20955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2" title="HW6_animation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350" y="2571750"/>
            <a:ext cx="4880001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79750" y="705025"/>
            <a:ext cx="2855525" cy="23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88906" y="3035775"/>
            <a:ext cx="2637218" cy="21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311700" y="275450"/>
            <a:ext cx="49632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Motion Planning (Potential Fields)</a:t>
            </a:r>
            <a:endParaRPr sz="1800"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311700" y="1020800"/>
            <a:ext cx="7906800" cy="32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Total potential: 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Attractive force → goal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latin typeface="Montserrat Medium"/>
                <a:ea typeface="Montserrat Medium"/>
                <a:cs typeface="Montserrat Medium"/>
                <a:sym typeface="Montserrat Medium"/>
              </a:rPr>
              <a:t>Repulsive force → obstacles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Two scenarios: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AutoNum type="arabicPeriod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Success: robot reaches goal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AutoNum type="arabicPeriod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Failure: robot stuck in local minimum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📌 Shows strengths and limitations of potential fields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763" y="1198275"/>
            <a:ext cx="17430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23250"/>
            <a:ext cx="4656298" cy="26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407175" y="154200"/>
            <a:ext cx="30129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Results &amp; Challenges</a:t>
            </a:r>
            <a:endParaRPr sz="1800"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407175" y="510600"/>
            <a:ext cx="4544400" cy="40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Results: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Robust tracking via SMC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Safe navigation via CBF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Clear planning success &amp; failure cases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Full animations generated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Challenges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Simulink signal dimensions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Workspace logging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Local minima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 cache management</a:t>
            </a:r>
            <a:endParaRPr sz="15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✔ Resolved through tuning &amp; structure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31" name="Google Shape;231;p34"/>
          <p:cNvCxnSpPr/>
          <p:nvPr/>
        </p:nvCxnSpPr>
        <p:spPr>
          <a:xfrm>
            <a:off x="5186629" y="34625"/>
            <a:ext cx="0" cy="5188200"/>
          </a:xfrm>
          <a:prstGeom prst="straightConnector1">
            <a:avLst/>
          </a:prstGeom>
          <a:noFill/>
          <a:ln cap="flat" cmpd="sng" w="76200">
            <a:solidFill>
              <a:srgbClr val="8900E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/>
        </p:nvSpPr>
        <p:spPr>
          <a:xfrm>
            <a:off x="498000" y="154750"/>
            <a:ext cx="1897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Conclusion</a:t>
            </a:r>
            <a:endParaRPr sz="18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498000" y="575350"/>
            <a:ext cx="6383400" cy="20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Complete AMR workflow implemented</a:t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Strong link between theory and simulation</a:t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Montserrat Medium"/>
              <a:buChar char="●"/>
            </a:pPr>
            <a:r>
              <a:rPr lang="en" sz="1500">
                <a:solidFill>
                  <a:srgbClr val="33333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Clear understanding of control, safety, and planning</a:t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🔗</a:t>
            </a:r>
            <a:r>
              <a:rPr b="1" lang="en" sz="1500" u="sng">
                <a:solidFill>
                  <a:srgbClr val="0000FF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Repository</a:t>
            </a:r>
            <a:endParaRPr b="1" sz="1500">
              <a:solidFill>
                <a:srgbClr val="0000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1098300" y="1409850"/>
            <a:ext cx="6947400" cy="23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THANK</a:t>
            </a:r>
            <a:endParaRPr sz="6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/>
              <a:t>YOU</a:t>
            </a:r>
            <a:endParaRPr sz="6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