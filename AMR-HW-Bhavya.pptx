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81e269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81e269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581e2697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581e269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1fb47b0e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1fb47b0e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1fb47b0e9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1fb47b0e9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1fb47b0e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1fb47b0e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15a7db4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15a7db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515a7db4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515a7db4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15a7db4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515a7db4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7bc4a7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7bc4a7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2d9124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2d9124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e2d9124b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e2d9124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e2d9124b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e2d9124b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2d9124b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2d9124b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2d9124b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2d9124b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2d9124b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e2d9124b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e3388ed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e3388ed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3388ed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e3388ed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3388ed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e3388ed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e3388ed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e3388ed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ieeexplore.ieee.org/stamp/stamp.jsp?tp=&amp;arnumber=7399030" TargetMode="External"/><Relationship Id="rId4" Type="http://schemas.openxmlformats.org/officeDocument/2006/relationships/hyperlink" Target="https://www.sciencedirect.com/science/article/pii/S1474667016335807" TargetMode="External"/><Relationship Id="rId5" Type="http://schemas.openxmlformats.org/officeDocument/2006/relationships/hyperlink" Target="https://ieeexplore.ieee.org/abstract/document/9105899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JExX5viY4A4auXHhiU32axhktZ1bAEGt/view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hyperlink" Target="http://drive.google.com/file/d/1yPNXTBt6djeLjlC5-MtSKlMxRthI5sz7/view" TargetMode="External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0"/>
            <a:ext cx="22014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AMR HW1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Project topic proposal</a:t>
            </a:r>
            <a:endParaRPr sz="12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934800"/>
            <a:ext cx="8832300" cy="4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100">
                <a:solidFill>
                  <a:schemeClr val="dk1"/>
                </a:solidFill>
              </a:rPr>
              <a:t>Title - 3 wheeled omni Robot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100">
                <a:solidFill>
                  <a:schemeClr val="dk1"/>
                </a:solidFill>
              </a:rPr>
              <a:t>The 3-wheel omni robot is unique because it is holonomic; it can move in any direction and rotate at the same time. This capability makes it flexible, efficient in tight spaces, and a good choice for indoor robotics and research platforms.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523"/>
              <a:buNone/>
            </a:pPr>
            <a:r>
              <a:rPr b="1" lang="en" sz="1100">
                <a:solidFill>
                  <a:schemeClr val="dk1"/>
                </a:solidFill>
              </a:rPr>
              <a:t>Why This Robot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523"/>
              <a:buNone/>
            </a:pPr>
            <a:r>
              <a:rPr lang="en" sz="1100">
                <a:solidFill>
                  <a:schemeClr val="dk1"/>
                </a:solidFill>
              </a:rPr>
              <a:t>I have chosen the 3-wheel omni robot because it provides a clear and balanced example to study the three main aspects of AMRs: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Modeling:</a:t>
            </a:r>
            <a:r>
              <a:rPr lang="en" sz="1100">
                <a:solidFill>
                  <a:schemeClr val="dk1"/>
                </a:solidFill>
              </a:rPr>
              <a:t> The robot has simple equations of motion that directly relate wheel speeds to motion in x, y, and rotation. This makes it easier to analyze.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Control:</a:t>
            </a:r>
            <a:r>
              <a:rPr lang="en" sz="1100">
                <a:solidFill>
                  <a:schemeClr val="dk1"/>
                </a:solidFill>
              </a:rPr>
              <a:t> Since it is fully actuated(DoF = number of actuators), different controllers can be applied, ranging from simple linear methods to advanced predictive approaches.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Planning:</a:t>
            </a:r>
            <a:r>
              <a:rPr lang="en" sz="1100">
                <a:solidFill>
                  <a:schemeClr val="dk1"/>
                </a:solidFill>
              </a:rPr>
              <a:t> The omni robot does not have turning radius limitations, so path planning algorithms can generate feasible paths more easily.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523"/>
              <a:buNone/>
            </a:pPr>
            <a:r>
              <a:rPr b="1" lang="en" sz="1100">
                <a:solidFill>
                  <a:schemeClr val="dk1"/>
                </a:solidFill>
              </a:rPr>
              <a:t>Conclusion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523"/>
              <a:buNone/>
            </a:pPr>
            <a:r>
              <a:rPr lang="en" sz="1100">
                <a:solidFill>
                  <a:schemeClr val="dk1"/>
                </a:solidFill>
              </a:rPr>
              <a:t>The 3-wheel omni robot was selected because it combines simplicity in modeling, flexibility in control, and ease of integration with planning algorithms. It also provides a strong contrast to non-holonomic robots, making it useful for understanding key AMR concepts.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 sz="1100">
                <a:solidFill>
                  <a:schemeClr val="dk1"/>
                </a:solidFill>
              </a:rPr>
              <a:t>References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https://ieeexplore.ieee.org/stamp/stamp.jsp?tp=&amp;arnumber=7399030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https://www.sciencedirect.com/science/article/pii/S1474667016335807</a:t>
            </a:r>
            <a:endParaRPr sz="1100"/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https://ieeexplore.ieee.org/abstract/document/9105899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74775" y="83225"/>
            <a:ext cx="13806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AMR HW2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50" y="881225"/>
            <a:ext cx="3690574" cy="426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475" y="881225"/>
            <a:ext cx="3690574" cy="426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25" y="152400"/>
            <a:ext cx="374394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794" y="152400"/>
            <a:ext cx="374394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45600"/>
            <a:ext cx="12129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AMR HW3</a:t>
            </a:r>
            <a:endParaRPr sz="12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87850" y="1269925"/>
            <a:ext cx="25242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Robot to wheel mapping 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02900"/>
            <a:ext cx="2453550" cy="14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845750" y="1269925"/>
            <a:ext cx="32373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Robot Parameters: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r→ wheel radius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R→ dist from robot center to each wheel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dt→ simulation step size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x0,y0→ initial X&amp;Y position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th0→ initial orientation angle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vx → body-frame velocity in x (forward)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vy → body-frame velocity in y (sideways)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w → body angular velocity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xd → world-frame velocity in x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yd → world-frame velocity in y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thd → world angular velocity = θ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Om1, om2, om3 → wheel speeds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-27323"/>
          <a:stretch/>
        </p:blipFill>
        <p:spPr>
          <a:xfrm>
            <a:off x="254500" y="1361875"/>
            <a:ext cx="2567950" cy="16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34650" y="3137575"/>
            <a:ext cx="24306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For wheel to body mapping 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072000" y="1269925"/>
            <a:ext cx="25680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EOM f</a:t>
            </a:r>
            <a:r>
              <a:rPr lang="en" sz="1200">
                <a:solidFill>
                  <a:schemeClr val="dk2"/>
                </a:solidFill>
              </a:rPr>
              <a:t>or body to world 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2000" y="1664425"/>
            <a:ext cx="2524200" cy="13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25" y="832300"/>
            <a:ext cx="4598801" cy="25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84325" y="278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Simulink model: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576" y="3361950"/>
            <a:ext cx="26098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5">
            <a:alphaModFix/>
          </a:blip>
          <a:srcRect b="23147" l="0" r="0" t="0"/>
          <a:stretch/>
        </p:blipFill>
        <p:spPr>
          <a:xfrm>
            <a:off x="4883125" y="812129"/>
            <a:ext cx="4051600" cy="19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3125" y="2797250"/>
            <a:ext cx="3923175" cy="17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0" y="0"/>
            <a:ext cx="4116600" cy="27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Test case 1: om1=2, om2=-1, om3=-1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25" y="430800"/>
            <a:ext cx="3925027" cy="22756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4207400" y="43900"/>
            <a:ext cx="4936500" cy="27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Test case 2: om1=0, om2=-2, om3=2 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7400" y="515500"/>
            <a:ext cx="4487977" cy="21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231975" y="2767000"/>
            <a:ext cx="4015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Test case 3:om1=2, </a:t>
            </a:r>
            <a:r>
              <a:rPr lang="en" sz="1200">
                <a:solidFill>
                  <a:schemeClr val="dk1"/>
                </a:solidFill>
              </a:rPr>
              <a:t>om2=2, om3=2 (Spin in place)</a:t>
            </a:r>
            <a:endParaRPr sz="1200">
              <a:solidFill>
                <a:schemeClr val="dk1"/>
              </a:solidFill>
            </a:endParaRPr>
          </a:p>
          <a:p>
            <a:pPr indent="0" lvl="0" marL="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25" y="3071800"/>
            <a:ext cx="3832376" cy="20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82800"/>
            <a:ext cx="1959300" cy="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/>
              <a:t>AMR HW4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89825" y="1152450"/>
            <a:ext cx="35124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Updated Simulink model with dynamic controller: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25" y="1728187"/>
            <a:ext cx="5371456" cy="34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5461275" y="326950"/>
            <a:ext cx="3682800" cy="4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Robot parameters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 = 0.05; 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 = 0.15; 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dt = 0.01; 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x0 = 0; y0 = 0; th0 = 0;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speeds in rad/s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%om1 = 2; 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%om2 = -1; 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%om3 = -1;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Body velocities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vx_d = 0.10;  vy_d = 0;  w_d = 0;     </a:t>
            </a: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straight line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%vx_d = 0;  vy_d = 0; w_d = 0.2;     % pure spin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%vx_d = 0.10; vy_d = 0; w_d = 0.2;   % circle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tau1 = 0.10;  K1 = 1;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tau2 = 0.10;  K2 = 1;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tau3 = 0.10;  K3 = 1;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Then in each Discrete Transfer Fcn block: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1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Numerator   =  K1*(1 - exp(-dt/tau1)) 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Denominator = [ 1  -exp(-dt/tau1)     ];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2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Numerator   =  K2*(1 - exp(-dt/tau2)) 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Denominator = [ 1  -exp(-dt/tau2)     ];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3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Numerator   =  K3*(1 - exp(-dt/tau3)) 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Denominator = [ 1  -exp(-dt/tau3)     ];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Controller gains</a:t>
            </a:r>
            <a:endParaRPr sz="85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Kp=5; Ki=50;</a:t>
            </a:r>
            <a:endParaRPr sz="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235525"/>
            <a:ext cx="6548100" cy="33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Matlab function block added: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Parameters: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K1</a:t>
            </a:r>
            <a:r>
              <a:rPr lang="en" sz="1000">
                <a:solidFill>
                  <a:schemeClr val="dk1"/>
                </a:solidFill>
              </a:rPr>
              <a:t>,</a:t>
            </a:r>
            <a:r>
              <a:rPr lang="en" sz="1000">
                <a:solidFill>
                  <a:schemeClr val="dk1"/>
                </a:solidFill>
              </a:rPr>
              <a:t> K2, K3 </a:t>
            </a:r>
            <a:r>
              <a:rPr lang="en" sz="1200">
                <a:solidFill>
                  <a:schemeClr val="dk1"/>
                </a:solidFill>
              </a:rPr>
              <a:t>→ </a:t>
            </a:r>
            <a:r>
              <a:rPr lang="en" sz="1000">
                <a:solidFill>
                  <a:schemeClr val="dk1"/>
                </a:solidFill>
              </a:rPr>
              <a:t>Static gain of wheel motor 1, 2, 3                                                                                                                                                                 tau1, tau2, tau3</a:t>
            </a:r>
            <a:r>
              <a:rPr lang="en" sz="1200">
                <a:solidFill>
                  <a:schemeClr val="dk1"/>
                </a:solidFill>
              </a:rPr>
              <a:t>→</a:t>
            </a:r>
            <a:r>
              <a:rPr lang="en" sz="1000">
                <a:solidFill>
                  <a:schemeClr val="dk1"/>
                </a:solidFill>
              </a:rPr>
              <a:t>Time constant (τ) of motor dynamics for each wheel seconds (s)                                                                                  Kp</a:t>
            </a:r>
            <a:r>
              <a:rPr lang="en" sz="1200">
                <a:solidFill>
                  <a:schemeClr val="dk1"/>
                </a:solidFill>
              </a:rPr>
              <a:t>→</a:t>
            </a:r>
            <a:r>
              <a:rPr lang="en" sz="1000">
                <a:solidFill>
                  <a:schemeClr val="dk1"/>
                </a:solidFill>
              </a:rPr>
              <a:t>Proportional gain of the PI controller.Determines how strongly error affects control signal (reacts to current error).                                                                                                                                                                                         Ki</a:t>
            </a:r>
            <a:r>
              <a:rPr lang="en" sz="1200">
                <a:solidFill>
                  <a:schemeClr val="dk1"/>
                </a:solidFill>
              </a:rPr>
              <a:t>→</a:t>
            </a:r>
            <a:r>
              <a:rPr lang="en" sz="1000">
                <a:solidFill>
                  <a:schemeClr val="dk1"/>
                </a:solidFill>
              </a:rPr>
              <a:t>Integral gain of the PI controller.Eliminates steady-state error by integrating past errors.                                                                                     Numerator, Denominator</a:t>
            </a:r>
            <a:r>
              <a:rPr lang="en" sz="1200">
                <a:solidFill>
                  <a:schemeClr val="dk1"/>
                </a:solidFill>
              </a:rPr>
              <a:t>→</a:t>
            </a:r>
            <a:r>
              <a:rPr lang="en" sz="1000">
                <a:solidFill>
                  <a:schemeClr val="dk1"/>
                </a:solidFill>
              </a:rPr>
              <a:t>Coefficients of the Discrete Transfer Function represents discrete-time wheel dynamics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869" y="353225"/>
            <a:ext cx="2567950" cy="135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44300" y="104550"/>
            <a:ext cx="3273000" cy="4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Test Cases: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1.Pure spin at same position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50" y="798674"/>
            <a:ext cx="3036200" cy="201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50" y="2812775"/>
            <a:ext cx="3036200" cy="21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3394375" y="498700"/>
            <a:ext cx="2668800" cy="4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2.Circular motion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4375" y="798675"/>
            <a:ext cx="2668817" cy="214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7300" y="3062675"/>
            <a:ext cx="2645875" cy="18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6201625" y="498700"/>
            <a:ext cx="2942400" cy="4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3.Straight line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875" y="798675"/>
            <a:ext cx="2884184" cy="2195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6875" y="3062675"/>
            <a:ext cx="2803440" cy="20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99950"/>
            <a:ext cx="12324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AMR HW5</a:t>
            </a:r>
            <a:endParaRPr sz="1200"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861325"/>
            <a:ext cx="76482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lang="en" sz="1200">
                <a:solidFill>
                  <a:schemeClr val="dk1"/>
                </a:solidFill>
              </a:rPr>
              <a:t>Updated simulink model with  Sliding Mode Controller (SMC), wheel-level error feedback, discrete wheel dynamics, kinematic transformations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16325"/>
            <a:ext cx="8832301" cy="37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25500" y="0"/>
            <a:ext cx="2073300" cy="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SMC Controller block code:</a:t>
            </a:r>
            <a:endParaRPr sz="1200"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2744700" y="0"/>
            <a:ext cx="2073300" cy="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Parameters updated file: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0" y="453900"/>
            <a:ext cx="23202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[u, s, e, edot] = SMC_Controller(omega_d, omega, omega_d_dot, dt)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%#codegen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outputs to initialize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    = 0.0;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    = 0.0;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    = 0.0;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edot = 0.0;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 gains (tune)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   = 5.0;     </a:t>
            </a: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sliding surface gain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   = 2.0;     </a:t>
            </a: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switching gain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phi = 0.05;    </a:t>
            </a: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smoothing for tanh to avoid chattering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discrete derivative of omega (using dt)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persistent 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omega_prev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isempty(omega_prev)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omega_prev = omega;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700">
              <a:solidFill>
                <a:srgbClr val="0E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    = omega_d - omega;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edot = omega_d_dot - (omega - omega_prev)/dt;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sliding surface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 = c*e + edot;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control (equivalent + switching; you may use c*e or c*edot depending on design)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 = c*e + k*tanh(s/phi);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alternative:  u = -k*sign(s) + c*e;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omega_prev = omega;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700">
              <a:solidFill>
                <a:srgbClr val="0E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2320200" y="453900"/>
            <a:ext cx="2922300" cy="4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Robot parameters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 = 0.05; 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 = 0.15; 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dt = 0.01; 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x0 = 0; y0 = 0; th0 = 0;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speeds in rad/s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%om1 = 2; 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%om2 = -1; 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%om3 = -1;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Body velocities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%vx_d = 0.10;  vy_d = 0;  w_d = 0;     % straight line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%vx_d = 0;  vy_d = 0; w_d = 0.2;     % pure spin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vx_d = 0.10; vy_d = 0; w_d = 0.2;   </a:t>
            </a: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circle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tau1 = 0.10;  K1 = 1;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tau2 = 0.10;  K2 = 1;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tau3 = 0.10;  K3 = 1;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Then in each Discrete Transfer Fcn block: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1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Numerator1   =  K1*(1 - exp(-dt/tau1)) 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Denominator1 = [ 1  -exp(-dt/tau1)     ];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2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Numerator2   =  K2*(1 - exp(-dt/tau2)) 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Denominator2 = [ 1  -exp(-dt/tau2)     ];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Wheel 3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Numerator3   =  K3*(1 - exp(-dt/tau3)) 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Denominator3 = [ 1  -exp(-dt/tau3)     ];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Controller gains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Kp=5; Ki=50;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900250" y="0"/>
            <a:ext cx="21978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Run_SMC code: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5242500" y="389100"/>
            <a:ext cx="5197500" cy="48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clear; clc; close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run(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'PARAMETERS.m'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            </a:t>
            </a: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loads dt etc.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 =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'HW3'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load_system(model);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 = sim(model);                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%fetch To-Workspace arrays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'exist(''e1'',''var'')'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error(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'e1/e2/e3 not found. Check To Workspace block names &amp; wiring.'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700">
              <a:solidFill>
                <a:srgbClr val="0E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e1   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'e1'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   e1dot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'e1dot'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e2   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'e2'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   e2dot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'e2dot'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e3   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'e3'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   e3dot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'e3dot'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time vector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'exist(''tout'',''var'')'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evalin(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'base'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'tout'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700">
              <a:solidFill>
                <a:srgbClr val="0E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N = numel(e1); t = (0:N-1)'*dt;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E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700">
              <a:solidFill>
                <a:srgbClr val="0E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sliding surfaces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 = 5;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s1 = c*e1 + e1dot;  s2 = c*e2 + e2dot;  s3 = c*e3 + e3dot;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Phase portraits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figure(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'Phase Portraits'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'Color'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tiledlayout(2,2);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nexttile; plot(e1, e1dot); grid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title(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'Wheel 1'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nexttile; plot(e2, e2dot); grid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title(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'Wheel 2'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nexttile; plot(e3, e3dot); grid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title(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'Wheel 3'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nexttile; plot(e1, e1dot, e2, e2dot, e3, e3dot); grid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title(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'Overlay'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sliding surfaces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figure(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'Sliding Surfaces'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'Color'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plot(t,s1,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'r'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,t,s2,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'g'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,t,s3,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'LineWidth'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,1.5); grid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xlabel(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'Time (s)'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ylabel(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's_i = c e_i + \ite_i'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legend(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's_1'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's_2'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's_3'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Optional time plot</a:t>
            </a:r>
            <a:endParaRPr sz="7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figure(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'Wheel Speed Error vs Time'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'Color'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plot(t, e1, t, e2, t, e3,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'LineWidth'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,1.2); grid 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xlabel(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'Time (s)'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ylabel(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'Error (rad/s)'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legend(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'e_1'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'e_2'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'e_3'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title(</a:t>
            </a:r>
            <a:r>
              <a:rPr lang="en" sz="7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'Wheel Speed Errors'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75"/>
            <a:ext cx="82413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PARAMETERS.m loads: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 r</a:t>
            </a:r>
            <a:r>
              <a:rPr lang="en" sz="1200"/>
              <a:t>, R, dt, tau1–tau3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 vx_d, vy_d, w_d (circle, spin, straight line case)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 controller gains numerator/denominator for all motors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Run_SMC.m: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 Extract e1, e1dot, e2, e2dot, e3, e3dot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Construct time vector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 Compute sliding surfaces s1, s2, s3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 Plot: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Phase portraits (error vs error rate)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Sliding surface convergence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Error signals over time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SMC Block code: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The SMC block takes the desired wheel speed ωd\omega_dωd​, the measured wheel speed ω\omegaω, and the rate of change ω˙d\dot{\omega}_dω˙d​, and computes the control input using sliding mode control.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It forms the sliding surface s=ce+e˙s = c e + \dot{e}s=ce+e˙, where e=ωd−ωe = \omega_d - \omegae=ωd​−ω, and applies a robust switching law u=ce+k tanh⁡(s/ϕ)u = c e + k\,\tanh(s/\phi)u=ce+ktanh(s/ϕ) to drive the system toward s=0s = 0s=0.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This ensures fast convergence, robustness to uncertainties, and stable wheel speed tracking.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132325"/>
            <a:ext cx="1146000" cy="4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Outputs:</a:t>
            </a:r>
            <a:endParaRPr sz="1200"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478475"/>
            <a:ext cx="8520600" cy="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output </a:t>
            </a:r>
            <a:r>
              <a:rPr lang="en" sz="1200">
                <a:solidFill>
                  <a:schemeClr val="dk1"/>
                </a:solidFill>
              </a:rPr>
              <a:t>given</a:t>
            </a:r>
            <a:r>
              <a:rPr lang="en" sz="1200">
                <a:solidFill>
                  <a:schemeClr val="dk1"/>
                </a:solidFill>
              </a:rPr>
              <a:t> below is for the </a:t>
            </a:r>
            <a:r>
              <a:rPr lang="en" sz="1200">
                <a:solidFill>
                  <a:schemeClr val="dk1"/>
                </a:solidFill>
              </a:rPr>
              <a:t>circular</a:t>
            </a:r>
            <a:r>
              <a:rPr lang="en" sz="1200">
                <a:solidFill>
                  <a:schemeClr val="dk1"/>
                </a:solidFill>
              </a:rPr>
              <a:t> motion of </a:t>
            </a:r>
            <a:r>
              <a:rPr lang="en" sz="1200">
                <a:solidFill>
                  <a:schemeClr val="dk1"/>
                </a:solidFill>
              </a:rPr>
              <a:t>robot.For</a:t>
            </a:r>
            <a:r>
              <a:rPr lang="en" sz="1200">
                <a:solidFill>
                  <a:schemeClr val="dk1"/>
                </a:solidFill>
              </a:rPr>
              <a:t> spin at place and straight line motion they can be done by commenting out the circle case and implementing the other 2 one by one from the PARAMETERS.m file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1450"/>
            <a:ext cx="3085901" cy="22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35750"/>
            <a:ext cx="3085900" cy="180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1725" y="1071450"/>
            <a:ext cx="4895549" cy="407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50751" cy="33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075" y="-12"/>
            <a:ext cx="3850750" cy="33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0" y="870500"/>
            <a:ext cx="9144000" cy="31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is </a:t>
            </a:r>
            <a:r>
              <a:rPr b="1" lang="en" sz="1200">
                <a:solidFill>
                  <a:schemeClr val="dk1"/>
                </a:solidFill>
              </a:rPr>
              <a:t>part of the formal Sliding Mode Control (SMC) derivation</a:t>
            </a:r>
            <a:r>
              <a:rPr lang="en" sz="1200">
                <a:solidFill>
                  <a:schemeClr val="dk1"/>
                </a:solidFill>
              </a:rPr>
              <a:t>, specifically the </a:t>
            </a:r>
            <a:r>
              <a:rPr b="1" lang="en" sz="1200">
                <a:solidFill>
                  <a:schemeClr val="dk1"/>
                </a:solidFill>
              </a:rPr>
              <a:t>robust or reaching term</a:t>
            </a:r>
            <a:r>
              <a:rPr lang="en" sz="1200">
                <a:solidFill>
                  <a:schemeClr val="dk1"/>
                </a:solidFill>
              </a:rPr>
              <a:t> in the control law.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This Comes From: </a:t>
            </a:r>
            <a:r>
              <a:rPr lang="en" sz="1200">
                <a:solidFill>
                  <a:schemeClr val="dk1"/>
                </a:solidFill>
              </a:rPr>
              <a:t>Vr​ term represents the </a:t>
            </a:r>
            <a:r>
              <a:rPr b="1" lang="en" sz="1200">
                <a:solidFill>
                  <a:schemeClr val="dk1"/>
                </a:solidFill>
              </a:rPr>
              <a:t>robust control input</a:t>
            </a:r>
            <a:r>
              <a:rPr lang="en" sz="1200">
                <a:solidFill>
                  <a:schemeClr val="dk1"/>
                </a:solidFill>
              </a:rPr>
              <a:t> that compensates for uncertainties or disturbances. In the standard SMC structure: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 = u_{eq} + u_{sw}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u_{eq}​ = </a:t>
            </a:r>
            <a:r>
              <a:rPr b="1" lang="en" sz="1200">
                <a:solidFill>
                  <a:schemeClr val="dk1"/>
                </a:solidFill>
              </a:rPr>
              <a:t>equivalent control</a:t>
            </a:r>
            <a:r>
              <a:rPr lang="en" sz="1200">
                <a:solidFill>
                  <a:schemeClr val="dk1"/>
                </a:solidFill>
              </a:rPr>
              <a:t>, which keeps the sliding surface s=0.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u_{sw}= </a:t>
            </a:r>
            <a:r>
              <a:rPr b="1" lang="en" sz="1200">
                <a:solidFill>
                  <a:schemeClr val="dk1"/>
                </a:solidFill>
              </a:rPr>
              <a:t>switching (robust) control</a:t>
            </a:r>
            <a:r>
              <a:rPr lang="en" sz="1200">
                <a:solidFill>
                  <a:schemeClr val="dk1"/>
                </a:solidFill>
              </a:rPr>
              <a:t>, designed to ensure reachability and reject disturbances.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This term mathematically ensures: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which guarantees </a:t>
            </a:r>
            <a:r>
              <a:rPr b="1" lang="en" sz="1200">
                <a:solidFill>
                  <a:schemeClr val="dk1"/>
                </a:solidFill>
              </a:rPr>
              <a:t>sliding and robustness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72" y="0"/>
            <a:ext cx="1645075" cy="8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36925"/>
            <a:ext cx="2075350" cy="3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92125"/>
            <a:ext cx="1176600" cy="7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AMR HW6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189500"/>
            <a:ext cx="8832300" cy="39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Equations :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System Dynamics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Barrier Function: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075" y="1586525"/>
            <a:ext cx="35147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350" y="2430450"/>
            <a:ext cx="3266451" cy="20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336250" y="812525"/>
            <a:ext cx="3266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Safe Robot Navigation by applying CBF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-125"/>
            <a:ext cx="8520600" cy="42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 CBF Condition: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4. Distance formula: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5. Control bounds:   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025" y="0"/>
            <a:ext cx="3459786" cy="21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6025" y="2571750"/>
            <a:ext cx="3177080" cy="48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6025" y="3631000"/>
            <a:ext cx="1099875" cy="4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67625"/>
            <a:ext cx="811800" cy="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/>
              <a:t>Outputs:</a:t>
            </a:r>
            <a:endParaRPr sz="1200"/>
          </a:p>
        </p:txBody>
      </p:sp>
      <p:pic>
        <p:nvPicPr>
          <p:cNvPr id="193" name="Google Shape;193;p30" title="CBF_anim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73925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900" y="673925"/>
            <a:ext cx="3353501" cy="21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2513" y="2796600"/>
            <a:ext cx="3482899" cy="23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56825"/>
            <a:ext cx="11892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Bhavya Oza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N19241430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AMR HW7</a:t>
            </a:r>
            <a:endParaRPr sz="1200"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308425"/>
            <a:ext cx="843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Scenario where the robot successfully reaches the goal.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Scenario where the robot gets stuck in a local minimum (failure case).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Attractive</a:t>
            </a:r>
            <a:r>
              <a:rPr b="1" lang="en" sz="1200">
                <a:solidFill>
                  <a:schemeClr val="dk1"/>
                </a:solidFill>
              </a:rPr>
              <a:t> potential towards goal: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Repulsive potential from obstacles: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Total Potential:  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311700" y="812525"/>
            <a:ext cx="23322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Plotting Potential fields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675" y="2136475"/>
            <a:ext cx="402907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0" y="2793700"/>
            <a:ext cx="420052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6375" y="3675400"/>
            <a:ext cx="2256345" cy="4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153900"/>
            <a:ext cx="919500" cy="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Output:</a:t>
            </a:r>
            <a:endParaRPr sz="1600"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700" y="609125"/>
            <a:ext cx="4656298" cy="26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 title="HW7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695400"/>
            <a:ext cx="4182900" cy="31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