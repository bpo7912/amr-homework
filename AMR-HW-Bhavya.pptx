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slide" Target="slides/slide20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6581e2697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6581e2697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6581e2697e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6581e2697e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81fb47b0e9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81fb47b0e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81fb47b0e9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81fb47b0e9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81fb47b0e9_1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81fb47b0e9_1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8515a7db4a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8515a7db4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8515a7db4a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8515a7db4a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8515a7db4a_1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8515a7db4a_1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a97bc4a7e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a97bc4a7e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ae2d9124b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ae2d9124b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ae2d9124b6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ae2d9124b6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ae2d9124b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ae2d9124b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ae2d9124b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ae2d9124b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ae2d9124b6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ae2d9124b6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ae2d9124b6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ae2d9124b6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ae3388ed9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3ae3388ed9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ae3388ed9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ae3388ed9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ae3388ed90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ae3388ed90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ae3388ed90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ae3388ed90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ieeexplore.ieee.org/stamp/stamp.jsp?tp=&amp;arnumber=7399030" TargetMode="External"/><Relationship Id="rId4" Type="http://schemas.openxmlformats.org/officeDocument/2006/relationships/hyperlink" Target="https://www.sciencedirect.com/science/article/pii/S1474667016335807" TargetMode="External"/><Relationship Id="rId5" Type="http://schemas.openxmlformats.org/officeDocument/2006/relationships/hyperlink" Target="https://ieeexplore.ieee.org/abstract/document/9105899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jpg"/><Relationship Id="rId4" Type="http://schemas.openxmlformats.org/officeDocument/2006/relationships/image" Target="../media/image6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9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image" Target="../media/image17.png"/><Relationship Id="rId5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Relationship Id="rId5" Type="http://schemas.openxmlformats.org/officeDocument/2006/relationships/image" Target="../media/image4.png"/><Relationship Id="rId6" Type="http://schemas.openxmlformats.org/officeDocument/2006/relationships/image" Target="../media/image4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8.png"/><Relationship Id="rId5" Type="http://schemas.openxmlformats.org/officeDocument/2006/relationships/image" Target="../media/image12.png"/><Relationship Id="rId6" Type="http://schemas.openxmlformats.org/officeDocument/2006/relationships/image" Target="../media/image14.png"/><Relationship Id="rId7" Type="http://schemas.openxmlformats.org/officeDocument/2006/relationships/image" Target="../media/image2.png"/><Relationship Id="rId8" Type="http://schemas.openxmlformats.org/officeDocument/2006/relationships/image" Target="../media/image1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2.png"/><Relationship Id="rId4" Type="http://schemas.openxmlformats.org/officeDocument/2006/relationships/image" Target="../media/image28.png"/><Relationship Id="rId5" Type="http://schemas.openxmlformats.org/officeDocument/2006/relationships/image" Target="../media/image2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Relationship Id="rId4" Type="http://schemas.openxmlformats.org/officeDocument/2006/relationships/image" Target="../media/image2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5.png"/><Relationship Id="rId4" Type="http://schemas.openxmlformats.org/officeDocument/2006/relationships/image" Target="../media/image2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Relationship Id="rId4" Type="http://schemas.openxmlformats.org/officeDocument/2006/relationships/image" Target="../media/image3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9.png"/><Relationship Id="rId4" Type="http://schemas.openxmlformats.org/officeDocument/2006/relationships/image" Target="../media/image31.png"/><Relationship Id="rId5" Type="http://schemas.openxmlformats.org/officeDocument/2006/relationships/image" Target="../media/image3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://drive.google.com/file/d/1mmqPyFDXHeh1CyWOCjhtF6amFVdBksoA/view" TargetMode="External"/><Relationship Id="rId4" Type="http://schemas.openxmlformats.org/officeDocument/2006/relationships/image" Target="../media/image20.jpg"/><Relationship Id="rId5" Type="http://schemas.openxmlformats.org/officeDocument/2006/relationships/image" Target="../media/image35.png"/><Relationship Id="rId6" Type="http://schemas.openxmlformats.org/officeDocument/2006/relationships/image" Target="../media/image40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Relationship Id="rId4" Type="http://schemas.openxmlformats.org/officeDocument/2006/relationships/image" Target="../media/image32.png"/><Relationship Id="rId5" Type="http://schemas.openxmlformats.org/officeDocument/2006/relationships/image" Target="../media/image3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1.png"/><Relationship Id="rId4" Type="http://schemas.openxmlformats.org/officeDocument/2006/relationships/hyperlink" Target="http://drive.google.com/file/d/1yPNXTBt6djeLjlC5-MtSKlMxRthI5sz7/view" TargetMode="External"/><Relationship Id="rId5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title"/>
          </p:nvPr>
        </p:nvSpPr>
        <p:spPr>
          <a:xfrm>
            <a:off x="311700" y="0"/>
            <a:ext cx="2201400" cy="93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/>
              <a:t>Bhavya Oza</a:t>
            </a:r>
            <a:endParaRPr b="1" sz="1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/>
              <a:t>N19241430</a:t>
            </a:r>
            <a:endParaRPr b="1" sz="1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/>
              <a:t>AMR HW1</a:t>
            </a:r>
            <a:endParaRPr b="1" sz="1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/>
              <a:t>Project topic proposal</a:t>
            </a:r>
            <a:endParaRPr sz="1200"/>
          </a:p>
        </p:txBody>
      </p:sp>
      <p:sp>
        <p:nvSpPr>
          <p:cNvPr id="55" name="Google Shape;55;p13"/>
          <p:cNvSpPr txBox="1"/>
          <p:nvPr>
            <p:ph idx="1" type="body"/>
          </p:nvPr>
        </p:nvSpPr>
        <p:spPr>
          <a:xfrm>
            <a:off x="311700" y="934800"/>
            <a:ext cx="8832300" cy="42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b="1" lang="en" sz="1100">
                <a:solidFill>
                  <a:schemeClr val="dk1"/>
                </a:solidFill>
              </a:rPr>
              <a:t>Title - 3 wheeled omni Robot 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lang="en" sz="1100">
                <a:solidFill>
                  <a:schemeClr val="dk1"/>
                </a:solidFill>
              </a:rPr>
              <a:t>The 3-wheel omni robot is unique because it is holonomic; it can move in any direction and rotate at the same time. This capability makes it flexible, efficient in tight spaces, and a good choice for indoor robotics and research platforms.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523"/>
              <a:buNone/>
            </a:pPr>
            <a:r>
              <a:rPr b="1" lang="en" sz="1100">
                <a:solidFill>
                  <a:schemeClr val="dk1"/>
                </a:solidFill>
              </a:rPr>
              <a:t>Why This Robot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523"/>
              <a:buNone/>
            </a:pPr>
            <a:r>
              <a:rPr lang="en" sz="1100">
                <a:solidFill>
                  <a:schemeClr val="dk1"/>
                </a:solidFill>
              </a:rPr>
              <a:t>I have chosen the 3-wheel omni robot because it provides a clear and balanced example to study the three main aspects of AMRs: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dk1"/>
                </a:solidFill>
              </a:rPr>
              <a:t>Modeling:</a:t>
            </a:r>
            <a:r>
              <a:rPr lang="en" sz="1100">
                <a:solidFill>
                  <a:schemeClr val="dk1"/>
                </a:solidFill>
              </a:rPr>
              <a:t> The robot has simple equations of motion that directly relate wheel speeds to motion in x, y, and rotation. This makes it easier to analyze.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dk1"/>
                </a:solidFill>
              </a:rPr>
              <a:t>Control:</a:t>
            </a:r>
            <a:r>
              <a:rPr lang="en" sz="1100">
                <a:solidFill>
                  <a:schemeClr val="dk1"/>
                </a:solidFill>
              </a:rPr>
              <a:t> Since it is fully actuated(DoF = number of actuators), different controllers can be applied, ranging from simple linear methods to advanced predictive approaches.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dk1"/>
                </a:solidFill>
              </a:rPr>
              <a:t>Planning:</a:t>
            </a:r>
            <a:r>
              <a:rPr lang="en" sz="1100">
                <a:solidFill>
                  <a:schemeClr val="dk1"/>
                </a:solidFill>
              </a:rPr>
              <a:t> The omni robot does not have turning radius limitations, so path planning algorithms can generate feasible paths more easily.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523"/>
              <a:buNone/>
            </a:pPr>
            <a:r>
              <a:rPr b="1" lang="en" sz="1100">
                <a:solidFill>
                  <a:schemeClr val="dk1"/>
                </a:solidFill>
              </a:rPr>
              <a:t>Conclusion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523"/>
              <a:buNone/>
            </a:pPr>
            <a:r>
              <a:rPr lang="en" sz="1100">
                <a:solidFill>
                  <a:schemeClr val="dk1"/>
                </a:solidFill>
              </a:rPr>
              <a:t>The 3-wheel omni robot was selected because it combines simplicity in modeling, flexibility in control, and ease of integration with planning algorithms. It also provides a strong contrast to non-holonomic robots, making it useful for understanding key AMR concepts.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523"/>
              <a:buNone/>
            </a:pPr>
            <a:r>
              <a:rPr b="1" lang="en" sz="1100">
                <a:solidFill>
                  <a:schemeClr val="dk1"/>
                </a:solidFill>
              </a:rPr>
              <a:t>References 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 u="sng">
                <a:solidFill>
                  <a:schemeClr val="hlink"/>
                </a:solidFill>
                <a:hlinkClick r:id="rId3"/>
              </a:rPr>
              <a:t>https://ieeexplore.ieee.org/stamp/stamp.jsp?tp=&amp;arnumber=7399030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 u="sng">
                <a:solidFill>
                  <a:schemeClr val="hlink"/>
                </a:solidFill>
                <a:hlinkClick r:id="rId4"/>
              </a:rPr>
              <a:t>https://www.sciencedirect.com/science/article/pii/S1474667016335807</a:t>
            </a:r>
            <a:endParaRPr sz="1100"/>
          </a:p>
          <a:p>
            <a:pPr indent="-2984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 u="sng">
                <a:solidFill>
                  <a:schemeClr val="hlink"/>
                </a:solidFill>
                <a:hlinkClick r:id="rId5"/>
              </a:rPr>
              <a:t>https://ieeexplore.ieee.org/abstract/document/9105899</a:t>
            </a:r>
            <a:endParaRPr b="1" sz="1100">
              <a:solidFill>
                <a:srgbClr val="0E00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274775" y="83225"/>
            <a:ext cx="1380600" cy="79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/>
              <a:t>Bhavya Oza</a:t>
            </a:r>
            <a:endParaRPr b="1" sz="1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/>
              <a:t>N19241430</a:t>
            </a:r>
            <a:endParaRPr b="1" sz="1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/>
              <a:t>AMR HW2</a:t>
            </a:r>
            <a:endParaRPr/>
          </a:p>
        </p:txBody>
      </p:sp>
      <p:pic>
        <p:nvPicPr>
          <p:cNvPr id="61" name="Google Shape;6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6050" y="881225"/>
            <a:ext cx="3690574" cy="4262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85475" y="881225"/>
            <a:ext cx="3690574" cy="4262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125" y="152400"/>
            <a:ext cx="3743944" cy="483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64794" y="152400"/>
            <a:ext cx="3743944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>
            <p:ph type="title"/>
          </p:nvPr>
        </p:nvSpPr>
        <p:spPr>
          <a:xfrm>
            <a:off x="311700" y="245600"/>
            <a:ext cx="1212900" cy="7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/>
              <a:t>Bhavya Oza</a:t>
            </a:r>
            <a:endParaRPr b="1" sz="1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/>
              <a:t>N19241430</a:t>
            </a:r>
            <a:endParaRPr b="1" sz="1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/>
              <a:t>AMR HW3</a:t>
            </a:r>
            <a:endParaRPr sz="1200"/>
          </a:p>
        </p:txBody>
      </p:sp>
      <p:sp>
        <p:nvSpPr>
          <p:cNvPr id="74" name="Google Shape;74;p16"/>
          <p:cNvSpPr txBox="1"/>
          <p:nvPr>
            <p:ph idx="1" type="body"/>
          </p:nvPr>
        </p:nvSpPr>
        <p:spPr>
          <a:xfrm>
            <a:off x="287850" y="1269925"/>
            <a:ext cx="2524200" cy="3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For Robot to wheel mapping :</a:t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/>
          </a:p>
        </p:txBody>
      </p:sp>
      <p:pic>
        <p:nvPicPr>
          <p:cNvPr id="75" name="Google Shape;7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502900"/>
            <a:ext cx="2453550" cy="14884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6"/>
          <p:cNvSpPr txBox="1"/>
          <p:nvPr/>
        </p:nvSpPr>
        <p:spPr>
          <a:xfrm>
            <a:off x="5845750" y="1269925"/>
            <a:ext cx="3237300" cy="269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Robot Parameters: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r→ wheel radius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R→ dist from robot center to each wheel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dt→ simulation step size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x0,y0→ initial X&amp;Y position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th0→ initial orientation angle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vx → body-frame velocity in x (forward)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vy → body-frame velocity in y (sideways)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w → body angular velocity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xd → world-frame velocity in x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yd → world-frame velocity in y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thd → world angular velocity = θ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Om1, om2, om3 → wheel speeds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77" name="Google Shape;77;p16"/>
          <p:cNvPicPr preferRelativeResize="0"/>
          <p:nvPr/>
        </p:nvPicPr>
        <p:blipFill rotWithShape="1">
          <a:blip r:embed="rId4">
            <a:alphaModFix/>
          </a:blip>
          <a:srcRect b="0" l="0" r="0" t="-27323"/>
          <a:stretch/>
        </p:blipFill>
        <p:spPr>
          <a:xfrm>
            <a:off x="254500" y="1361875"/>
            <a:ext cx="2567950" cy="1696175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 txBox="1"/>
          <p:nvPr/>
        </p:nvSpPr>
        <p:spPr>
          <a:xfrm>
            <a:off x="334650" y="3137575"/>
            <a:ext cx="2430600" cy="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2"/>
                </a:solidFill>
              </a:rPr>
              <a:t>For wheel to body mapping :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79" name="Google Shape;79;p16"/>
          <p:cNvSpPr txBox="1"/>
          <p:nvPr/>
        </p:nvSpPr>
        <p:spPr>
          <a:xfrm>
            <a:off x="3072000" y="1269925"/>
            <a:ext cx="2568000" cy="29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EOM f</a:t>
            </a:r>
            <a:r>
              <a:rPr lang="en" sz="1200">
                <a:solidFill>
                  <a:schemeClr val="dk2"/>
                </a:solidFill>
              </a:rPr>
              <a:t>or body to world :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80" name="Google Shape;80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72000" y="1664425"/>
            <a:ext cx="2524200" cy="1393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4325" y="832300"/>
            <a:ext cx="4598801" cy="252965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 txBox="1"/>
          <p:nvPr/>
        </p:nvSpPr>
        <p:spPr>
          <a:xfrm>
            <a:off x="284325" y="278200"/>
            <a:ext cx="30000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Simulink model: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87" name="Google Shape;87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4576" y="3361950"/>
            <a:ext cx="2609850" cy="1162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7"/>
          <p:cNvPicPr preferRelativeResize="0"/>
          <p:nvPr/>
        </p:nvPicPr>
        <p:blipFill rotWithShape="1">
          <a:blip r:embed="rId5">
            <a:alphaModFix/>
          </a:blip>
          <a:srcRect b="23147" l="0" r="0" t="0"/>
          <a:stretch/>
        </p:blipFill>
        <p:spPr>
          <a:xfrm>
            <a:off x="4883125" y="812129"/>
            <a:ext cx="4051600" cy="1964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83125" y="2797250"/>
            <a:ext cx="3923175" cy="1774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idx="1" type="body"/>
          </p:nvPr>
        </p:nvSpPr>
        <p:spPr>
          <a:xfrm>
            <a:off x="0" y="0"/>
            <a:ext cx="4116600" cy="272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Test case 1: om1=2, om2=-1, om3=-1</a:t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/>
          </a:p>
        </p:txBody>
      </p:sp>
      <p:pic>
        <p:nvPicPr>
          <p:cNvPr id="95" name="Google Shape;9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1625" y="430800"/>
            <a:ext cx="3925027" cy="2275624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8"/>
          <p:cNvSpPr txBox="1"/>
          <p:nvPr/>
        </p:nvSpPr>
        <p:spPr>
          <a:xfrm>
            <a:off x="4207400" y="43900"/>
            <a:ext cx="4936500" cy="27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Test case 2: om1=0, om2=-2, om3=2 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97" name="Google Shape;9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07400" y="515500"/>
            <a:ext cx="4487977" cy="2190925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8"/>
          <p:cNvSpPr txBox="1"/>
          <p:nvPr/>
        </p:nvSpPr>
        <p:spPr>
          <a:xfrm>
            <a:off x="231975" y="2767000"/>
            <a:ext cx="4015800" cy="20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Test case 3:om1=2, </a:t>
            </a:r>
            <a:r>
              <a:rPr lang="en" sz="1200">
                <a:solidFill>
                  <a:schemeClr val="dk1"/>
                </a:solidFill>
              </a:rPr>
              <a:t>om2=2, om3=2 (Spin in place)</a:t>
            </a:r>
            <a:endParaRPr sz="1200">
              <a:solidFill>
                <a:schemeClr val="dk1"/>
              </a:solidFill>
            </a:endParaRPr>
          </a:p>
          <a:p>
            <a:pPr indent="0" lvl="0" marL="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99" name="Google Shape;99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4225" y="3071800"/>
            <a:ext cx="3832376" cy="20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82800"/>
            <a:ext cx="1959300" cy="77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91666"/>
              <a:buFont typeface="Arial"/>
              <a:buNone/>
            </a:pPr>
            <a:r>
              <a:rPr b="1" lang="en" sz="1200"/>
              <a:t>Bhavya Oza</a:t>
            </a:r>
            <a:endParaRPr b="1" sz="1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91666"/>
              <a:buFont typeface="Arial"/>
              <a:buNone/>
            </a:pPr>
            <a:r>
              <a:rPr b="1" lang="en" sz="1200"/>
              <a:t>N19241430</a:t>
            </a:r>
            <a:endParaRPr b="1" sz="1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91666"/>
              <a:buFont typeface="Arial"/>
              <a:buNone/>
            </a:pPr>
            <a:r>
              <a:rPr b="1" lang="en" sz="1200"/>
              <a:t>AMR HW4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89825" y="1152450"/>
            <a:ext cx="3512400" cy="52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Updated Simulink model with dynamic controller: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06" name="Google Shape;10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825" y="1728187"/>
            <a:ext cx="5371456" cy="341532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9"/>
          <p:cNvSpPr txBox="1"/>
          <p:nvPr/>
        </p:nvSpPr>
        <p:spPr>
          <a:xfrm>
            <a:off x="5461275" y="326950"/>
            <a:ext cx="3682800" cy="48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Robot parameters</a:t>
            </a:r>
            <a:endParaRPr sz="85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r = 0.05; </a:t>
            </a:r>
            <a:endParaRPr sz="8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R = 0.15; </a:t>
            </a:r>
            <a:endParaRPr sz="8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dt = 0.01; </a:t>
            </a:r>
            <a:endParaRPr sz="8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x0 = 0; y0 = 0; th0 = 0;</a:t>
            </a:r>
            <a:endParaRPr sz="8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wheel speeds in rad/s</a:t>
            </a:r>
            <a:endParaRPr sz="85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%om1 = 2; </a:t>
            </a:r>
            <a:endParaRPr sz="85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%om2 = -1; </a:t>
            </a:r>
            <a:endParaRPr sz="85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%om3 = -1;</a:t>
            </a:r>
            <a:endParaRPr sz="85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Body velocities</a:t>
            </a:r>
            <a:endParaRPr sz="85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vx_d = 0.10;  vy_d = 0;  w_d = 0;     </a:t>
            </a:r>
            <a:r>
              <a:rPr lang="en" sz="85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straight line</a:t>
            </a:r>
            <a:endParaRPr sz="85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%vx_d = 0;  vy_d = 0; w_d = 0.2;     % pure spin</a:t>
            </a:r>
            <a:endParaRPr sz="85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%vx_d = 0.10; vy_d = 0; w_d = 0.2;   % circle</a:t>
            </a:r>
            <a:endParaRPr sz="85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tau1 = 0.10;  K1 = 1;</a:t>
            </a:r>
            <a:endParaRPr sz="8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tau2 = 0.10;  K2 = 1;</a:t>
            </a:r>
            <a:endParaRPr sz="8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tau3 = 0.10;  K3 = 1;</a:t>
            </a:r>
            <a:endParaRPr sz="8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Then in each Discrete Transfer Fcn block:</a:t>
            </a:r>
            <a:endParaRPr sz="85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Wheel 1</a:t>
            </a:r>
            <a:endParaRPr sz="85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Numerator   =  K1*(1 - exp(-dt/tau1)) ;</a:t>
            </a:r>
            <a:endParaRPr sz="8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Denominator = [ 1  -exp(-dt/tau1)     ];</a:t>
            </a:r>
            <a:endParaRPr sz="8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Wheel 2</a:t>
            </a:r>
            <a:endParaRPr sz="85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Numerator   =  K2*(1 - exp(-dt/tau2)) ;</a:t>
            </a:r>
            <a:endParaRPr sz="8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Denominator = [ 1  -exp(-dt/tau2)     ];</a:t>
            </a:r>
            <a:endParaRPr sz="8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Wheel 3</a:t>
            </a:r>
            <a:endParaRPr sz="85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Numerator   =  K3*(1 - exp(-dt/tau3)) ;</a:t>
            </a:r>
            <a:endParaRPr sz="8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Denominator = [ 1  -exp(-dt/tau3)     ];</a:t>
            </a:r>
            <a:endParaRPr sz="8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Controller gains</a:t>
            </a:r>
            <a:endParaRPr sz="85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Kp=5; Ki=50;</a:t>
            </a:r>
            <a:endParaRPr sz="8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0"/>
          <p:cNvSpPr txBox="1"/>
          <p:nvPr>
            <p:ph idx="1" type="body"/>
          </p:nvPr>
        </p:nvSpPr>
        <p:spPr>
          <a:xfrm>
            <a:off x="311700" y="235525"/>
            <a:ext cx="6548100" cy="336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Matlab function block added: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Parameters:</a:t>
            </a:r>
            <a:endParaRPr b="1"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K1</a:t>
            </a:r>
            <a:r>
              <a:rPr lang="en" sz="1000">
                <a:solidFill>
                  <a:schemeClr val="dk1"/>
                </a:solidFill>
              </a:rPr>
              <a:t>,</a:t>
            </a:r>
            <a:r>
              <a:rPr lang="en" sz="1000">
                <a:solidFill>
                  <a:schemeClr val="dk1"/>
                </a:solidFill>
              </a:rPr>
              <a:t> K2, K3 </a:t>
            </a:r>
            <a:r>
              <a:rPr lang="en" sz="1200">
                <a:solidFill>
                  <a:schemeClr val="dk1"/>
                </a:solidFill>
              </a:rPr>
              <a:t>→ </a:t>
            </a:r>
            <a:r>
              <a:rPr lang="en" sz="1000">
                <a:solidFill>
                  <a:schemeClr val="dk1"/>
                </a:solidFill>
              </a:rPr>
              <a:t>Static gain of wheel motor 1, 2, 3                                                                                                                                                                 tau1, tau2, tau3</a:t>
            </a:r>
            <a:r>
              <a:rPr lang="en" sz="1200">
                <a:solidFill>
                  <a:schemeClr val="dk1"/>
                </a:solidFill>
              </a:rPr>
              <a:t>→</a:t>
            </a:r>
            <a:r>
              <a:rPr lang="en" sz="1000">
                <a:solidFill>
                  <a:schemeClr val="dk1"/>
                </a:solidFill>
              </a:rPr>
              <a:t>Time constant (τ) of motor dynamics for each wheel seconds (s)                                                                                  Kp</a:t>
            </a:r>
            <a:r>
              <a:rPr lang="en" sz="1200">
                <a:solidFill>
                  <a:schemeClr val="dk1"/>
                </a:solidFill>
              </a:rPr>
              <a:t>→</a:t>
            </a:r>
            <a:r>
              <a:rPr lang="en" sz="1000">
                <a:solidFill>
                  <a:schemeClr val="dk1"/>
                </a:solidFill>
              </a:rPr>
              <a:t>Proportional gain of the PI controller.Determines how strongly error affects control signal (reacts to current error).                                                                                                                                                                                         Ki</a:t>
            </a:r>
            <a:r>
              <a:rPr lang="en" sz="1200">
                <a:solidFill>
                  <a:schemeClr val="dk1"/>
                </a:solidFill>
              </a:rPr>
              <a:t>→</a:t>
            </a:r>
            <a:r>
              <a:rPr lang="en" sz="1000">
                <a:solidFill>
                  <a:schemeClr val="dk1"/>
                </a:solidFill>
              </a:rPr>
              <a:t>Integral gain of the PI controller.Eliminates steady-state error by integrating past errors.                                                                                     Numerator, Denominator</a:t>
            </a:r>
            <a:r>
              <a:rPr lang="en" sz="1200">
                <a:solidFill>
                  <a:schemeClr val="dk1"/>
                </a:solidFill>
              </a:rPr>
              <a:t>→</a:t>
            </a:r>
            <a:r>
              <a:rPr lang="en" sz="1000">
                <a:solidFill>
                  <a:schemeClr val="dk1"/>
                </a:solidFill>
              </a:rPr>
              <a:t>Coefficients of the Discrete Transfer Function represents discrete-time wheel dynamics 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 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</p:txBody>
      </p:sp>
      <p:pic>
        <p:nvPicPr>
          <p:cNvPr id="113" name="Google Shape;11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71869" y="353225"/>
            <a:ext cx="2567950" cy="1354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1"/>
          <p:cNvSpPr txBox="1"/>
          <p:nvPr>
            <p:ph type="title"/>
          </p:nvPr>
        </p:nvSpPr>
        <p:spPr>
          <a:xfrm>
            <a:off x="144300" y="104550"/>
            <a:ext cx="3273000" cy="493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Test Cases: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1.Pure spin at same position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750" y="798674"/>
            <a:ext cx="3036200" cy="20141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9750" y="2812775"/>
            <a:ext cx="3036200" cy="214785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21"/>
          <p:cNvSpPr txBox="1"/>
          <p:nvPr/>
        </p:nvSpPr>
        <p:spPr>
          <a:xfrm>
            <a:off x="3394375" y="498700"/>
            <a:ext cx="2668800" cy="43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2.Circular motion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94375" y="798675"/>
            <a:ext cx="2668817" cy="2147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417300" y="3062675"/>
            <a:ext cx="2645875" cy="18979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21"/>
          <p:cNvSpPr txBox="1"/>
          <p:nvPr/>
        </p:nvSpPr>
        <p:spPr>
          <a:xfrm>
            <a:off x="6201625" y="498700"/>
            <a:ext cx="2942400" cy="45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3.Straight line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25" name="Google Shape;125;p2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256875" y="798675"/>
            <a:ext cx="2884184" cy="21951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2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256875" y="3062675"/>
            <a:ext cx="2803440" cy="2080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99950"/>
            <a:ext cx="12324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/>
              <a:t>Bhavya Oza</a:t>
            </a:r>
            <a:endParaRPr b="1" sz="1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/>
              <a:t>N19241430</a:t>
            </a:r>
            <a:endParaRPr b="1" sz="1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/>
              <a:t>AMR HW5</a:t>
            </a:r>
            <a:endParaRPr sz="1200"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61325"/>
            <a:ext cx="7648200" cy="55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SzPts val="523"/>
              <a:buNone/>
            </a:pPr>
            <a:r>
              <a:rPr lang="en" sz="1200">
                <a:solidFill>
                  <a:schemeClr val="dk1"/>
                </a:solidFill>
              </a:rPr>
              <a:t>Updated simulink model with  Sliding Mode Controller (SMC), wheel-level error feedback, discrete wheel dynamics, kinematic transformations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33" name="Google Shape;13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416325"/>
            <a:ext cx="8832301" cy="3727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>
            <p:ph type="title"/>
          </p:nvPr>
        </p:nvSpPr>
        <p:spPr>
          <a:xfrm>
            <a:off x="325500" y="0"/>
            <a:ext cx="2073300" cy="38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SMC Controller block code:</a:t>
            </a:r>
            <a:endParaRPr sz="1200"/>
          </a:p>
        </p:txBody>
      </p:sp>
      <p:sp>
        <p:nvSpPr>
          <p:cNvPr id="139" name="Google Shape;139;p23"/>
          <p:cNvSpPr txBox="1"/>
          <p:nvPr>
            <p:ph idx="1" type="body"/>
          </p:nvPr>
        </p:nvSpPr>
        <p:spPr>
          <a:xfrm>
            <a:off x="2744700" y="0"/>
            <a:ext cx="2073300" cy="45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200">
                <a:solidFill>
                  <a:srgbClr val="000000"/>
                </a:solidFill>
              </a:rPr>
              <a:t>Parameters updated file: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40" name="Google Shape;140;p23"/>
          <p:cNvSpPr txBox="1"/>
          <p:nvPr/>
        </p:nvSpPr>
        <p:spPr>
          <a:xfrm>
            <a:off x="0" y="453900"/>
            <a:ext cx="2320200" cy="4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E00FF"/>
                </a:solidFill>
                <a:latin typeface="Courier New"/>
                <a:ea typeface="Courier New"/>
                <a:cs typeface="Courier New"/>
                <a:sym typeface="Courier New"/>
              </a:rPr>
              <a:t>function 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[u, s, e, edot] = SMC_Controller(omega_d, omega, omega_d_dot, dt)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%#codegen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outputs to initialize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u    = 0.0;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    = 0.0;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e    = 0.0;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edot = 0.0;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 gains (tune)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   = 5.0;     </a:t>
            </a: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sliding surface gain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k   = 2.0;     </a:t>
            </a: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switching gain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phi = 0.05;    </a:t>
            </a: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smoothing for tanh to avoid chattering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discrete derivative of omega (using dt)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E00FF"/>
                </a:solidFill>
                <a:latin typeface="Courier New"/>
                <a:ea typeface="Courier New"/>
                <a:cs typeface="Courier New"/>
                <a:sym typeface="Courier New"/>
              </a:rPr>
              <a:t>persistent 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omega_prev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E00FF"/>
                </a:solidFill>
                <a:latin typeface="Courier New"/>
                <a:ea typeface="Courier New"/>
                <a:cs typeface="Courier New"/>
                <a:sym typeface="Courier New"/>
              </a:rPr>
              <a:t>if 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isempty(omega_prev)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omega_prev = omega;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E00FF"/>
                </a:solidFill>
                <a:latin typeface="Courier New"/>
                <a:ea typeface="Courier New"/>
                <a:cs typeface="Courier New"/>
                <a:sym typeface="Courier New"/>
              </a:rPr>
              <a:t>end</a:t>
            </a:r>
            <a:endParaRPr sz="700">
              <a:solidFill>
                <a:srgbClr val="0E0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e    = omega_d - omega;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edot = omega_d_dot - (omega - omega_prev)/dt;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sliding surface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 = c*e + edot;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control (equivalent + switching; you may use c*e or c*edot depending on design)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u = c*e + k*tanh(s/phi);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alternative:  u = -k*sign(s) + c*e;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omega_prev = omega;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E00FF"/>
                </a:solidFill>
                <a:latin typeface="Courier New"/>
                <a:ea typeface="Courier New"/>
                <a:cs typeface="Courier New"/>
                <a:sym typeface="Courier New"/>
              </a:rPr>
              <a:t>end</a:t>
            </a:r>
            <a:endParaRPr sz="700">
              <a:solidFill>
                <a:srgbClr val="0E0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41" name="Google Shape;141;p23"/>
          <p:cNvSpPr txBox="1"/>
          <p:nvPr/>
        </p:nvSpPr>
        <p:spPr>
          <a:xfrm>
            <a:off x="2320200" y="453900"/>
            <a:ext cx="2922300" cy="45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Robot parameters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r = 0.05; 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R = 0.15; 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dt = 0.01; 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x0 = 0; y0 = 0; th0 = 0;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wheel speeds in rad/s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%om1 = 2; 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%om2 = -1; 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%om3 = -1;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Body velocities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%vx_d = 0.10;  vy_d = 0;  w_d = 0;     % straight line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%vx_d = 0;  vy_d = 0; w_d = 0.2;     % pure spin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vx_d = 0.10; vy_d = 0; w_d = 0.2;   </a:t>
            </a: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circle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tau1 = 0.10;  K1 = 1;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tau2 = 0.10;  K2 = 1;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tau3 = 0.10;  K3 = 1;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Then in each Discrete Transfer Fcn block: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Wheel 1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Numerator1   =  K1*(1 - exp(-dt/tau1)) 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Denominator1 = [ 1  -exp(-dt/tau1)     ];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Wheel 2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Numerator2   =  K2*(1 - exp(-dt/tau2)) 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Denominator2 = [ 1  -exp(-dt/tau2)     ];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Wheel 3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Numerator3   =  K3*(1 - exp(-dt/tau3)) 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Denominator3 = [ 1  -exp(-dt/tau3)     ];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Controller gains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Kp=5; Ki=50;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42" name="Google Shape;142;p23"/>
          <p:cNvSpPr txBox="1"/>
          <p:nvPr/>
        </p:nvSpPr>
        <p:spPr>
          <a:xfrm>
            <a:off x="5900250" y="0"/>
            <a:ext cx="21978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Run_SMC code: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43" name="Google Shape;143;p23"/>
          <p:cNvSpPr txBox="1"/>
          <p:nvPr/>
        </p:nvSpPr>
        <p:spPr>
          <a:xfrm>
            <a:off x="5242500" y="389100"/>
            <a:ext cx="5197500" cy="48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clear; clc; close 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all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run(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'PARAMETERS.m'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              </a:t>
            </a: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loads dt etc.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model = 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'HW3'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; load_system(model);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out = sim(model);                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%fetch To-Workspace arrays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E00FF"/>
                </a:solidFill>
                <a:latin typeface="Courier New"/>
                <a:ea typeface="Courier New"/>
                <a:cs typeface="Courier New"/>
                <a:sym typeface="Courier New"/>
              </a:rPr>
              <a:t>if 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~evalin(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'base'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'exist(''e1'',''var'')'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error(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'e1/e2/e3 not found. Check To Workspace block names &amp; wiring.'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E00FF"/>
                </a:solidFill>
                <a:latin typeface="Courier New"/>
                <a:ea typeface="Courier New"/>
                <a:cs typeface="Courier New"/>
                <a:sym typeface="Courier New"/>
              </a:rPr>
              <a:t>end</a:t>
            </a:r>
            <a:endParaRPr sz="700">
              <a:solidFill>
                <a:srgbClr val="0E0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e1    = evalin(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'base'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'e1'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     e1dot = evalin(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'base'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'e1dot'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e2    = evalin(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'base'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'e2'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     e2dot = evalin(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'base'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'e2dot'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e3    = evalin(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'base'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'e3'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     e3dot = evalin(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'base'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'e3dot'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time vector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E00FF"/>
                </a:solidFill>
                <a:latin typeface="Courier New"/>
                <a:ea typeface="Courier New"/>
                <a:cs typeface="Courier New"/>
                <a:sym typeface="Courier New"/>
              </a:rPr>
              <a:t>if 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evalin(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'base'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'exist(''tout'',''var'')'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t = evalin(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'base'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'tout'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E00FF"/>
                </a:solidFill>
                <a:latin typeface="Courier New"/>
                <a:ea typeface="Courier New"/>
                <a:cs typeface="Courier New"/>
                <a:sym typeface="Courier New"/>
              </a:rPr>
              <a:t>else</a:t>
            </a:r>
            <a:endParaRPr sz="700">
              <a:solidFill>
                <a:srgbClr val="0E0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N = numel(e1); t = (0:N-1)'*dt;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E00FF"/>
                </a:solidFill>
                <a:latin typeface="Courier New"/>
                <a:ea typeface="Courier New"/>
                <a:cs typeface="Courier New"/>
                <a:sym typeface="Courier New"/>
              </a:rPr>
              <a:t>end</a:t>
            </a:r>
            <a:endParaRPr sz="700">
              <a:solidFill>
                <a:srgbClr val="0E0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sliding surfaces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 = 5;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s1 = c*e1 + e1dot;  s2 = c*e2 + e2dot;  s3 = c*e3 + e3dot;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Phase portraits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figure(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'Name'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'Phase Portraits'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'Color'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'w'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tiledlayout(2,2);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nexttile; plot(e1, e1dot); grid 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on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; title(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'Wheel 1'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nexttile; plot(e2, e2dot); grid 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on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; title(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'Wheel 2'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nexttile; plot(e3, e3dot); grid 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on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; title(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'Wheel 3'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nexttile; plot(e1, e1dot, e2, e2dot, e3, e3dot); grid 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on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; title(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'Overlay'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sliding surfaces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figure(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'Name'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'Sliding Surfaces'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'Color'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'w'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plot(t,s1,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'r'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,t,s2,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'g'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,t,s3,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'b'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'LineWidth'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,1.5); grid 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on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xlabel(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'Time (s)'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 ylabel(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's_i = c e_i + \ite_i'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 legend(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's_1'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's_2'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's_3'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008013"/>
                </a:solidFill>
                <a:latin typeface="Courier New"/>
                <a:ea typeface="Courier New"/>
                <a:cs typeface="Courier New"/>
                <a:sym typeface="Courier New"/>
              </a:rPr>
              <a:t>% Optional time plot</a:t>
            </a:r>
            <a:endParaRPr sz="700">
              <a:solidFill>
                <a:srgbClr val="00801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figure(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'Name'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'Wheel Speed Error vs Time'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'Color'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'w'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plot(t, e1, t, e2, t, e3, 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'LineWidth'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,1.2); grid 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on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xlabel(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'Time (s)'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ylabel(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'Error (rad/s)'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legend(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'e_1'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'e_2'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'e_3'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29210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title(</a:t>
            </a:r>
            <a:r>
              <a:rPr lang="en" sz="700">
                <a:solidFill>
                  <a:srgbClr val="A709F5"/>
                </a:solidFill>
                <a:latin typeface="Courier New"/>
                <a:ea typeface="Courier New"/>
                <a:cs typeface="Courier New"/>
                <a:sym typeface="Courier New"/>
              </a:rPr>
              <a:t>'Wheel Speed Errors'</a:t>
            </a:r>
            <a:r>
              <a:rPr lang="en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4"/>
          <p:cNvSpPr txBox="1"/>
          <p:nvPr>
            <p:ph type="title"/>
          </p:nvPr>
        </p:nvSpPr>
        <p:spPr>
          <a:xfrm>
            <a:off x="311700" y="75"/>
            <a:ext cx="8241300" cy="514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PARAMETERS.m loads: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 r</a:t>
            </a:r>
            <a:r>
              <a:rPr lang="en" sz="1200"/>
              <a:t>, R, dt, tau1–tau3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 vx_d, vy_d, w_d (circle, spin, straight line case)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 controller gains numerator/denominator for all motors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Run_SMC.m:</a:t>
            </a: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 Extract e1, e1dot, e2, e2dot, e3, e3dot</a:t>
            </a: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Construct time vector</a:t>
            </a: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 Compute sliding surfaces s1, s2, s3</a:t>
            </a: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 Plot:</a:t>
            </a: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Phase portraits (error vs error rate)</a:t>
            </a: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Sliding surface convergence</a:t>
            </a: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Error signals over time</a:t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/>
              <a:t>SMC Block code:</a:t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/>
              <a:t>The SMC block takes the desired wheel speed ωd\omega_dωd​, the measured wheel speed ω\omegaω, and the rate of change ω˙d\dot{\omega}_dω˙d​, and computes the control input using sliding mode control.</a:t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/>
              <a:t>It forms the sliding surface s=ce+e˙s = c e + \dot{e}s=ce+e˙, where e=ωd−ωe = \omega_d - \omegae=ωd​−ω, and applies a robust switching law u=ce+k tanh⁡(s/ϕ)u = c e + k\,\tanh(s/\phi)u=ce+ktanh(s/ϕ) to drive the system toward s=0s = 0s=0.</a:t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200"/>
              <a:t>This ensures fast convergence, robustness to uncertainties, and stable wheel speed tracking.</a:t>
            </a:r>
            <a:endParaRPr sz="12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5"/>
          <p:cNvSpPr txBox="1"/>
          <p:nvPr>
            <p:ph type="title"/>
          </p:nvPr>
        </p:nvSpPr>
        <p:spPr>
          <a:xfrm>
            <a:off x="311700" y="132325"/>
            <a:ext cx="1146000" cy="43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Outputs:</a:t>
            </a:r>
            <a:endParaRPr sz="1200"/>
          </a:p>
        </p:txBody>
      </p:sp>
      <p:sp>
        <p:nvSpPr>
          <p:cNvPr id="154" name="Google Shape;154;p25"/>
          <p:cNvSpPr txBox="1"/>
          <p:nvPr>
            <p:ph idx="1" type="body"/>
          </p:nvPr>
        </p:nvSpPr>
        <p:spPr>
          <a:xfrm>
            <a:off x="311700" y="478475"/>
            <a:ext cx="8520600" cy="5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The output </a:t>
            </a:r>
            <a:r>
              <a:rPr lang="en" sz="1200">
                <a:solidFill>
                  <a:schemeClr val="dk1"/>
                </a:solidFill>
              </a:rPr>
              <a:t>given</a:t>
            </a:r>
            <a:r>
              <a:rPr lang="en" sz="1200">
                <a:solidFill>
                  <a:schemeClr val="dk1"/>
                </a:solidFill>
              </a:rPr>
              <a:t> below is for the </a:t>
            </a:r>
            <a:r>
              <a:rPr lang="en" sz="1200">
                <a:solidFill>
                  <a:schemeClr val="dk1"/>
                </a:solidFill>
              </a:rPr>
              <a:t>circular</a:t>
            </a:r>
            <a:r>
              <a:rPr lang="en" sz="1200">
                <a:solidFill>
                  <a:schemeClr val="dk1"/>
                </a:solidFill>
              </a:rPr>
              <a:t> motion of </a:t>
            </a:r>
            <a:r>
              <a:rPr lang="en" sz="1200">
                <a:solidFill>
                  <a:schemeClr val="dk1"/>
                </a:solidFill>
              </a:rPr>
              <a:t>robot.For</a:t>
            </a:r>
            <a:r>
              <a:rPr lang="en" sz="1200">
                <a:solidFill>
                  <a:schemeClr val="dk1"/>
                </a:solidFill>
              </a:rPr>
              <a:t> spin at place and straight line motion they can be done by commenting out the circle case and implementing the other 2 one by one from the PARAMETERS.m file 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55" name="Google Shape;15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071450"/>
            <a:ext cx="3085901" cy="226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3335750"/>
            <a:ext cx="3085900" cy="1807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41725" y="1071450"/>
            <a:ext cx="4895549" cy="40720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3850751" cy="3324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05075" y="-12"/>
            <a:ext cx="3850750" cy="3324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7"/>
          <p:cNvSpPr txBox="1"/>
          <p:nvPr>
            <p:ph idx="1" type="body"/>
          </p:nvPr>
        </p:nvSpPr>
        <p:spPr>
          <a:xfrm>
            <a:off x="0" y="870500"/>
            <a:ext cx="9144000" cy="318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is </a:t>
            </a:r>
            <a:r>
              <a:rPr b="1" lang="en" sz="1200">
                <a:solidFill>
                  <a:schemeClr val="dk1"/>
                </a:solidFill>
              </a:rPr>
              <a:t>part of the formal Sliding Mode Control (SMC) derivation</a:t>
            </a:r>
            <a:r>
              <a:rPr lang="en" sz="1200">
                <a:solidFill>
                  <a:schemeClr val="dk1"/>
                </a:solidFill>
              </a:rPr>
              <a:t>, specifically the </a:t>
            </a:r>
            <a:r>
              <a:rPr b="1" lang="en" sz="1200">
                <a:solidFill>
                  <a:schemeClr val="dk1"/>
                </a:solidFill>
              </a:rPr>
              <a:t>robust or reaching term</a:t>
            </a:r>
            <a:r>
              <a:rPr lang="en" sz="1200">
                <a:solidFill>
                  <a:schemeClr val="dk1"/>
                </a:solidFill>
              </a:rPr>
              <a:t> in the control law.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solidFill>
                  <a:schemeClr val="dk1"/>
                </a:solidFill>
              </a:rPr>
              <a:t>This Comes From: </a:t>
            </a:r>
            <a:r>
              <a:rPr lang="en" sz="1200">
                <a:solidFill>
                  <a:schemeClr val="dk1"/>
                </a:solidFill>
              </a:rPr>
              <a:t>Vr​ term represents the </a:t>
            </a:r>
            <a:r>
              <a:rPr b="1" lang="en" sz="1200">
                <a:solidFill>
                  <a:schemeClr val="dk1"/>
                </a:solidFill>
              </a:rPr>
              <a:t>robust control input</a:t>
            </a:r>
            <a:r>
              <a:rPr lang="en" sz="1200">
                <a:solidFill>
                  <a:schemeClr val="dk1"/>
                </a:solidFill>
              </a:rPr>
              <a:t> that compensates for uncertainties or disturbances. In the standard SMC structure: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u = u_{eq} + u_{sw}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u_{eq}​ = </a:t>
            </a:r>
            <a:r>
              <a:rPr b="1" lang="en" sz="1200">
                <a:solidFill>
                  <a:schemeClr val="dk1"/>
                </a:solidFill>
              </a:rPr>
              <a:t>equivalent control</a:t>
            </a:r>
            <a:r>
              <a:rPr lang="en" sz="1200">
                <a:solidFill>
                  <a:schemeClr val="dk1"/>
                </a:solidFill>
              </a:rPr>
              <a:t>, which keeps the sliding surface s=0.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u_{sw}= </a:t>
            </a:r>
            <a:r>
              <a:rPr b="1" lang="en" sz="1200">
                <a:solidFill>
                  <a:schemeClr val="dk1"/>
                </a:solidFill>
              </a:rPr>
              <a:t>switching (robust) control</a:t>
            </a:r>
            <a:r>
              <a:rPr lang="en" sz="1200">
                <a:solidFill>
                  <a:schemeClr val="dk1"/>
                </a:solidFill>
              </a:rPr>
              <a:t>, designed to ensure reachability and reject disturbances.</a:t>
            </a:r>
            <a:br>
              <a:rPr lang="en" sz="1200">
                <a:solidFill>
                  <a:schemeClr val="dk1"/>
                </a:solidFill>
              </a:rPr>
            </a:b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This term mathematically ensures: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which guarantees </a:t>
            </a:r>
            <a:r>
              <a:rPr b="1" lang="en" sz="1200">
                <a:solidFill>
                  <a:schemeClr val="dk1"/>
                </a:solidFill>
              </a:rPr>
              <a:t>sliding and robustness</a:t>
            </a:r>
            <a:r>
              <a:rPr lang="en" sz="1200">
                <a:solidFill>
                  <a:schemeClr val="dk1"/>
                </a:solidFill>
              </a:rPr>
              <a:t>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800"/>
          </a:p>
        </p:txBody>
      </p:sp>
      <p:pic>
        <p:nvPicPr>
          <p:cNvPr id="169" name="Google Shape;16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0272" y="0"/>
            <a:ext cx="1645075" cy="87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3136925"/>
            <a:ext cx="2075350" cy="395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8"/>
          <p:cNvSpPr txBox="1"/>
          <p:nvPr>
            <p:ph type="title"/>
          </p:nvPr>
        </p:nvSpPr>
        <p:spPr>
          <a:xfrm>
            <a:off x="311700" y="92125"/>
            <a:ext cx="1176600" cy="78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/>
              <a:t>Bhavya Oza</a:t>
            </a:r>
            <a:endParaRPr b="1" sz="1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/>
              <a:t>N19241430</a:t>
            </a:r>
            <a:endParaRPr b="1" sz="1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/>
              <a:t>AMR HW6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76" name="Google Shape;176;p28"/>
          <p:cNvSpPr txBox="1"/>
          <p:nvPr>
            <p:ph idx="1" type="body"/>
          </p:nvPr>
        </p:nvSpPr>
        <p:spPr>
          <a:xfrm>
            <a:off x="311700" y="1189500"/>
            <a:ext cx="8832300" cy="39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Equations :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</a:pPr>
            <a:r>
              <a:rPr lang="en" sz="1200">
                <a:solidFill>
                  <a:schemeClr val="dk1"/>
                </a:solidFill>
              </a:rPr>
              <a:t>System Dynamics :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         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                      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</a:pPr>
            <a:r>
              <a:rPr lang="en" sz="1200">
                <a:solidFill>
                  <a:schemeClr val="dk1"/>
                </a:solidFill>
              </a:rPr>
              <a:t>Barrier Function: 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                            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77" name="Google Shape;17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33775" y="1608075"/>
            <a:ext cx="3514725" cy="57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69350" y="2430450"/>
            <a:ext cx="3266451" cy="205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8"/>
          <p:cNvSpPr txBox="1"/>
          <p:nvPr/>
        </p:nvSpPr>
        <p:spPr>
          <a:xfrm>
            <a:off x="336250" y="812525"/>
            <a:ext cx="32664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Safe Robot Navigation by applying CBF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9"/>
          <p:cNvSpPr txBox="1"/>
          <p:nvPr>
            <p:ph idx="1" type="body"/>
          </p:nvPr>
        </p:nvSpPr>
        <p:spPr>
          <a:xfrm>
            <a:off x="311700" y="-125"/>
            <a:ext cx="8520600" cy="423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3. CBF Condition: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4. Distance formula: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5. Control bounds:    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85" name="Google Shape;185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6025" y="0"/>
            <a:ext cx="3459786" cy="218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6025" y="2571750"/>
            <a:ext cx="3177080" cy="483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86025" y="3631000"/>
            <a:ext cx="1099875" cy="483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0"/>
          <p:cNvSpPr txBox="1"/>
          <p:nvPr>
            <p:ph type="title"/>
          </p:nvPr>
        </p:nvSpPr>
        <p:spPr>
          <a:xfrm>
            <a:off x="311700" y="67625"/>
            <a:ext cx="811800" cy="45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200"/>
              <a:t>Outputs:</a:t>
            </a:r>
            <a:endParaRPr sz="1200"/>
          </a:p>
        </p:txBody>
      </p:sp>
      <p:pic>
        <p:nvPicPr>
          <p:cNvPr id="193" name="Google Shape;193;p30" title="HW6_animation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8375" y="1502800"/>
            <a:ext cx="4430300" cy="259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44492" y="262725"/>
            <a:ext cx="3134933" cy="259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3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994500" y="2861300"/>
            <a:ext cx="2984925" cy="228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1"/>
          <p:cNvSpPr txBox="1"/>
          <p:nvPr>
            <p:ph type="title"/>
          </p:nvPr>
        </p:nvSpPr>
        <p:spPr>
          <a:xfrm>
            <a:off x="311700" y="56825"/>
            <a:ext cx="1189200" cy="7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/>
              <a:t>Bhavya Oza</a:t>
            </a:r>
            <a:endParaRPr b="1" sz="1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/>
              <a:t>N19241430</a:t>
            </a:r>
            <a:endParaRPr b="1" sz="1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/>
              <a:t>AMR HW7</a:t>
            </a:r>
            <a:endParaRPr sz="1200"/>
          </a:p>
        </p:txBody>
      </p:sp>
      <p:sp>
        <p:nvSpPr>
          <p:cNvPr id="201" name="Google Shape;201;p31"/>
          <p:cNvSpPr txBox="1"/>
          <p:nvPr>
            <p:ph idx="1" type="body"/>
          </p:nvPr>
        </p:nvSpPr>
        <p:spPr>
          <a:xfrm>
            <a:off x="311700" y="1308425"/>
            <a:ext cx="84342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</a:pPr>
            <a:r>
              <a:rPr lang="en" sz="1200">
                <a:solidFill>
                  <a:schemeClr val="dk1"/>
                </a:solidFill>
              </a:rPr>
              <a:t>Scenario where the robot successfully reaches the goal.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</a:pPr>
            <a:r>
              <a:rPr lang="en" sz="1200">
                <a:solidFill>
                  <a:schemeClr val="dk1"/>
                </a:solidFill>
              </a:rPr>
              <a:t>Scenario where the robot gets stuck in a local minimum (failure case).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Attractive</a:t>
            </a:r>
            <a:r>
              <a:rPr b="1" lang="en" sz="1200">
                <a:solidFill>
                  <a:schemeClr val="dk1"/>
                </a:solidFill>
              </a:rPr>
              <a:t> potential towards goal:</a:t>
            </a:r>
            <a:endParaRPr b="1"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Repulsive potential from obstacles: </a:t>
            </a:r>
            <a:endParaRPr b="1"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Total Potential:  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202" name="Google Shape;202;p31"/>
          <p:cNvSpPr txBox="1"/>
          <p:nvPr/>
        </p:nvSpPr>
        <p:spPr>
          <a:xfrm>
            <a:off x="311700" y="812525"/>
            <a:ext cx="2332200" cy="49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Plotting Potential fields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203" name="Google Shape;203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25675" y="2136475"/>
            <a:ext cx="4029075" cy="65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09000" y="2793700"/>
            <a:ext cx="4200525" cy="714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76375" y="3675400"/>
            <a:ext cx="2256345" cy="495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2"/>
          <p:cNvSpPr txBox="1"/>
          <p:nvPr>
            <p:ph type="title"/>
          </p:nvPr>
        </p:nvSpPr>
        <p:spPr>
          <a:xfrm>
            <a:off x="311700" y="153900"/>
            <a:ext cx="919500" cy="38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Output:</a:t>
            </a:r>
            <a:endParaRPr sz="1600"/>
          </a:p>
        </p:txBody>
      </p:sp>
      <p:pic>
        <p:nvPicPr>
          <p:cNvPr id="211" name="Google Shape;211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87700" y="609125"/>
            <a:ext cx="4656298" cy="261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32" title="HW7.mp4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695400"/>
            <a:ext cx="4182900" cy="313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